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drawings/drawing1.xml" ContentType="application/vnd.openxmlformats-officedocument.drawingml.chartshape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1.svg" ContentType="image/svg+xml"/>
  <Override PartName="/ppt/media/image33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89.svg" ContentType="image/svg+xml"/>
  <Override PartName="/ppt/media/image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93" r:id="rId4"/>
    <p:sldMasterId id="2147483695" r:id="rId5"/>
  </p:sldMasterIdLst>
  <p:notesMasterIdLst>
    <p:notesMasterId r:id="rId7"/>
  </p:notesMasterIdLst>
  <p:handoutMasterIdLst>
    <p:handoutMasterId r:id="rId56"/>
  </p:handoutMasterIdLst>
  <p:sldIdLst>
    <p:sldId id="260" r:id="rId6"/>
    <p:sldId id="261" r:id="rId8"/>
    <p:sldId id="263" r:id="rId9"/>
    <p:sldId id="264" r:id="rId10"/>
    <p:sldId id="265" r:id="rId11"/>
    <p:sldId id="290" r:id="rId12"/>
    <p:sldId id="273" r:id="rId13"/>
    <p:sldId id="288" r:id="rId14"/>
    <p:sldId id="307" r:id="rId15"/>
    <p:sldId id="289" r:id="rId16"/>
    <p:sldId id="267" r:id="rId17"/>
    <p:sldId id="268" r:id="rId18"/>
    <p:sldId id="305" r:id="rId19"/>
    <p:sldId id="281" r:id="rId20"/>
    <p:sldId id="303" r:id="rId21"/>
    <p:sldId id="302" r:id="rId22"/>
    <p:sldId id="301" r:id="rId23"/>
    <p:sldId id="306" r:id="rId24"/>
    <p:sldId id="310" r:id="rId25"/>
    <p:sldId id="309" r:id="rId26"/>
    <p:sldId id="308" r:id="rId27"/>
    <p:sldId id="311" r:id="rId28"/>
    <p:sldId id="313" r:id="rId29"/>
    <p:sldId id="316" r:id="rId30"/>
    <p:sldId id="272" r:id="rId31"/>
    <p:sldId id="295" r:id="rId32"/>
    <p:sldId id="330" r:id="rId33"/>
    <p:sldId id="294" r:id="rId34"/>
    <p:sldId id="296" r:id="rId35"/>
    <p:sldId id="297" r:id="rId36"/>
    <p:sldId id="276" r:id="rId37"/>
    <p:sldId id="299" r:id="rId38"/>
    <p:sldId id="317" r:id="rId39"/>
    <p:sldId id="320" r:id="rId40"/>
    <p:sldId id="319" r:id="rId41"/>
    <p:sldId id="298" r:id="rId42"/>
    <p:sldId id="277" r:id="rId43"/>
    <p:sldId id="278" r:id="rId44"/>
    <p:sldId id="279" r:id="rId45"/>
    <p:sldId id="280" r:id="rId46"/>
    <p:sldId id="282" r:id="rId47"/>
    <p:sldId id="322" r:id="rId48"/>
    <p:sldId id="325" r:id="rId49"/>
    <p:sldId id="323" r:id="rId50"/>
    <p:sldId id="324" r:id="rId51"/>
    <p:sldId id="326" r:id="rId52"/>
    <p:sldId id="283" r:id="rId53"/>
    <p:sldId id="284" r:id="rId54"/>
    <p:sldId id="329" r:id="rId5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何富军" initials="何" lastIdx="0" clrIdx="0"/>
  <p:cmAuthor id="2" name="作者" initials="A" lastIdx="0" clrIdx="1"/>
  <p:cmAuthor id="3" name="fafa" initials="f" lastIdx="0" clrIdx="2"/>
  <p:cmAuthor id="4" name="王习习" initials="王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0" Type="http://schemas.openxmlformats.org/officeDocument/2006/relationships/commentAuthors" Target="commentAuthors.xml"/><Relationship Id="rId6" Type="http://schemas.openxmlformats.org/officeDocument/2006/relationships/slide" Target="slides/slide1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Administrator\Desktop\&#29579;&#33395;&#26480;\&#25552;&#39640;&#33041;&#21330;&#20013;&#20559;&#30251;&#24739;&#32773;&#33391;&#32930;&#20301;&#25670;&#25918;&#30340;&#27491;&#30830;&#29575;(2)(3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5806023281738"/>
          <c:y val="0.0223341729638959"/>
          <c:w val="0.873569679238124"/>
          <c:h val="0.8131434001784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rgbClr val="27627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B6F7D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1C9494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7CB554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C14D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rgbClr val="F95647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Sheet1!$B$3:$B$9</c:f>
              <c:strCache>
                <c:ptCount val="7"/>
                <c:pt idx="0">
                  <c:v>因护理工作不到位导致不合格</c:v>
                </c:pt>
                <c:pt idx="1">
                  <c:v>因家属疏忽导致不合格</c:v>
                </c:pt>
                <c:pt idx="2">
                  <c:v>因勤更换照顾者导致不合格</c:v>
                </c:pt>
                <c:pt idx="3">
                  <c:v>因治疗后未及时摆放导致不合格</c:v>
                </c:pt>
                <c:pt idx="4">
                  <c:v>辅助器具不全导致不合格</c:v>
                </c:pt>
                <c:pt idx="5">
                  <c:v>肌力评估不到位</c:v>
                </c:pt>
                <c:pt idx="6">
                  <c:v>没有指导个性化的方案</c:v>
                </c:pt>
              </c:strCache>
            </c:strRef>
          </c:cat>
          <c:val>
            <c:numRef>
              <c:f>Sheet1!$C$3:$C$9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126285696"/>
        <c:axId val="130298624"/>
      </c:barChart>
      <c:lineChart>
        <c:grouping val="standard"/>
        <c:varyColors val="0"/>
        <c:ser>
          <c:idx val="1"/>
          <c:order val="1"/>
          <c:tx>
            <c:strRef>
              <c:f>Sheet1!$D$1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 cmpd="sng" algn="ctr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square"/>
            <c:size val="8"/>
            <c:spPr>
              <a:solidFill>
                <a:srgbClr val="FF0000"/>
              </a:solidFill>
              <a:ln w="9525" cap="flat" cmpd="sng" algn="ctr">
                <a:noFill/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微软雅黑" panose="020B0503020204020204" charset="-122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Sheet1!$B$3:$B$7</c:f>
              <c:strCache>
                <c:ptCount val="5"/>
                <c:pt idx="0">
                  <c:v>因护理工作不到位导致不合格</c:v>
                </c:pt>
                <c:pt idx="1">
                  <c:v>因家属疏忽导致不合格</c:v>
                </c:pt>
                <c:pt idx="2">
                  <c:v>因勤更换照顾者导致不合格</c:v>
                </c:pt>
                <c:pt idx="3">
                  <c:v>因治疗后未及时摆放导致不合格</c:v>
                </c:pt>
                <c:pt idx="4">
                  <c:v>辅助器具不全导致不合格</c:v>
                </c:pt>
              </c:strCache>
            </c:strRef>
          </c:cat>
          <c:val>
            <c:numRef>
              <c:f>Sheet1!$D$2:$D$9</c:f>
              <c:numCache>
                <c:formatCode>0.0%</c:formatCode>
                <c:ptCount val="8"/>
                <c:pt idx="0">
                  <c:v>0</c:v>
                </c:pt>
                <c:pt idx="1" c:formatCode="0%">
                  <c:v>0.291666666666667</c:v>
                </c:pt>
                <c:pt idx="2" c:formatCode="0%">
                  <c:v>0.541666666666667</c:v>
                </c:pt>
                <c:pt idx="3" c:formatCode="0%">
                  <c:v>0.75</c:v>
                </c:pt>
                <c:pt idx="4" c:formatCode="0%">
                  <c:v>0.875</c:v>
                </c:pt>
                <c:pt idx="5" c:formatCode="0%">
                  <c:v>0.916666666666667</c:v>
                </c:pt>
                <c:pt idx="6" c:formatCode="0%">
                  <c:v>0.958333333333333</c:v>
                </c:pt>
                <c:pt idx="7" c:formatCode="0%">
                  <c:v>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0300160"/>
        <c:axId val="130314240"/>
      </c:lineChart>
      <c:catAx>
        <c:axId val="126285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spcFirstLastPara="0" vertOverflow="ellipsis" vert="eaVert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pPr>
          </a:p>
        </c:txPr>
        <c:crossAx val="130298624"/>
        <c:crosses val="autoZero"/>
        <c:auto val="1"/>
        <c:lblAlgn val="ctr"/>
        <c:lblOffset val="100"/>
        <c:noMultiLvlLbl val="0"/>
      </c:catAx>
      <c:valAx>
        <c:axId val="130298624"/>
        <c:scaling>
          <c:orientation val="minMax"/>
          <c:max val="24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pPr>
          </a:p>
        </c:txPr>
        <c:crossAx val="126285696"/>
        <c:crosses val="autoZero"/>
        <c:crossBetween val="between"/>
      </c:valAx>
      <c:catAx>
        <c:axId val="130300160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pPr>
          </a:p>
        </c:txPr>
        <c:crossAx val="130314240"/>
        <c:crosses val="max"/>
        <c:auto val="1"/>
        <c:lblAlgn val="ctr"/>
        <c:lblOffset val="100"/>
        <c:noMultiLvlLbl val="0"/>
      </c:catAx>
      <c:valAx>
        <c:axId val="130314240"/>
        <c:scaling>
          <c:orientation val="minMax"/>
          <c:max val="1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pPr>
          </a:p>
        </c:txPr>
        <c:crossAx val="130300160"/>
        <c:crosses val="max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8e5b197-ab73-48fa-bb55-456a483c058b}"/>
      </c:ext>
    </c:extLst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 sz="800" b="0">
          <a:latin typeface="微软雅黑" panose="020B0503020204020204" charset="-122"/>
          <a:ea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extLst>
                <c:ext xmlns:c15="http://schemas.microsoft.com/office/drawing/2012/chart" uri="{02D57815-91ED-43cb-92C2-25804820EDAC}">
                  <c15:fullRef>
                    <c15:sqref>Sheet1!$B$1</c15:sqref>
                  </c15:fullRef>
                  <c15:levelRef>
                    <c15:sqref>Sheet1!$B$1</c15:sqref>
                  </c15:levelRef>
                </c:ext>
              </c:extLst>
              <c:f>Sheet1!$B$1</c:f>
              <c:strCache>
                <c:ptCount val="1"/>
                <c:pt idx="0">
                  <c:v>0.00%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0.65</c:v>
                </c:pt>
                <c:pt idx="1">
                  <c:v>0.85</c:v>
                </c:pt>
              </c:numCache>
            </c:numRef>
          </c:val>
        </c:ser>
        <c:ser>
          <c:idx val="1"/>
          <c:order val="1"/>
          <c:tx>
            <c:strRef>
              <c:extLst>
                <c:ext xmlns:c15="http://schemas.microsoft.com/office/drawing/2012/chart" uri="{02D57815-91ED-43cb-92C2-25804820EDAC}">
                  <c15:fullRef>
                    <c15:sqref>Sheet1!$C$1</c15:sqref>
                  </c15:fullRef>
                  <c15:levelRef>
                    <c15:sqref>Sheet1!$C$1</c15:sqref>
                  </c15:levelRef>
                </c:ext>
              </c:extLst>
              <c:f>Sheet1!$C$1</c:f>
              <c:strCache>
                <c:ptCount val="1"/>
                <c:pt idx="0">
                  <c:v>50.00%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extLst>
                <c:ext xmlns:c15="http://schemas.microsoft.com/office/drawing/2012/chart" uri="{02D57815-91ED-43cb-92C2-25804820EDAC}">
                  <c15:fullRef>
                    <c15:sqref>Sheet1!$D$1</c15:sqref>
                  </c15:fullRef>
                  <c15:levelRef>
                    <c15:sqref>Sheet1!$D$1</c15:sqref>
                  </c15:levelRef>
                </c:ext>
              </c:extLst>
              <c:f>Sheet1!$D$1</c:f>
              <c:strCache>
                <c:ptCount val="1"/>
                <c:pt idx="0">
                  <c:v>100.00%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2641961"/>
        <c:axId val="665390645"/>
      </c:barChart>
      <c:catAx>
        <c:axId val="54264196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5390645"/>
        <c:crosses val="autoZero"/>
        <c:auto val="1"/>
        <c:lblAlgn val="ctr"/>
        <c:lblOffset val="100"/>
        <c:noMultiLvlLbl val="0"/>
      </c:catAx>
      <c:valAx>
        <c:axId val="66539064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264196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9bc82fe-b353-4938-a853-fb504b503ca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extLst>
                <c:ext xmlns:c15="http://schemas.microsoft.com/office/drawing/2012/chart" uri="{02D57815-91ED-43cb-92C2-25804820EDAC}">
                  <c15:fullRef>
                    <c15:sqref>Sheet1!$B$1</c15:sqref>
                  </c15:fullRef>
                  <c15:levelRef>
                    <c15:sqref>Sheet1!$B$1</c15:sqref>
                  </c15:levelRef>
                </c:ext>
              </c:extLst>
              <c:f>Sheet1!$B$1</c:f>
              <c:strCache>
                <c:ptCount val="1"/>
                <c:pt idx="0">
                  <c:v>0.00%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0.65</c:v>
                </c:pt>
                <c:pt idx="1">
                  <c:v>0.85</c:v>
                </c:pt>
              </c:numCache>
            </c:numRef>
          </c:val>
        </c:ser>
        <c:ser>
          <c:idx val="1"/>
          <c:order val="1"/>
          <c:tx>
            <c:strRef>
              <c:extLst>
                <c:ext xmlns:c15="http://schemas.microsoft.com/office/drawing/2012/chart" uri="{02D57815-91ED-43cb-92C2-25804820EDAC}">
                  <c15:fullRef>
                    <c15:sqref>Sheet1!$C$1</c15:sqref>
                  </c15:fullRef>
                  <c15:levelRef>
                    <c15:sqref>Sheet1!$C$1</c15:sqref>
                  </c15:levelRef>
                </c:ext>
              </c:extLst>
              <c:f>Sheet1!$C$1</c:f>
              <c:strCache>
                <c:ptCount val="1"/>
                <c:pt idx="0">
                  <c:v>50.00%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extLst>
                <c:ext xmlns:c15="http://schemas.microsoft.com/office/drawing/2012/chart" uri="{02D57815-91ED-43cb-92C2-25804820EDAC}">
                  <c15:fullRef>
                    <c15:sqref>Sheet1!$D$1</c15:sqref>
                  </c15:fullRef>
                  <c15:levelRef>
                    <c15:sqref>Sheet1!$D$1</c15:sqref>
                  </c15:levelRef>
                </c:ext>
              </c:extLst>
              <c:f>Sheet1!$D$1</c:f>
              <c:strCache>
                <c:ptCount val="1"/>
                <c:pt idx="0">
                  <c:v>100.00%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2641961"/>
        <c:axId val="665390645"/>
      </c:barChart>
      <c:catAx>
        <c:axId val="54264196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5390645"/>
        <c:crosses val="autoZero"/>
        <c:auto val="1"/>
        <c:lblAlgn val="ctr"/>
        <c:lblOffset val="100"/>
        <c:noMultiLvlLbl val="0"/>
      </c:catAx>
      <c:valAx>
        <c:axId val="66539064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264196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9bc82fe-b353-4938-a853-fb504b503ca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extLst>
                <c:ext xmlns:c15="http://schemas.microsoft.com/office/drawing/2012/chart" uri="{02D57815-91ED-43cb-92C2-25804820EDAC}">
                  <c15:fullRef>
                    <c15:sqref>Sheet1!$B$1</c15:sqref>
                  </c15:fullRef>
                  <c15:levelRef>
                    <c15:sqref>Sheet1!$B$1</c15:sqref>
                  </c15:levelRef>
                </c:ext>
              </c:extLst>
              <c:f>Sheet1!$B$1</c:f>
              <c:strCache>
                <c:ptCount val="1"/>
                <c:pt idx="0">
                  <c:v>0.00%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0.65</c:v>
                </c:pt>
                <c:pt idx="1">
                  <c:v>0.85</c:v>
                </c:pt>
              </c:numCache>
            </c:numRef>
          </c:val>
        </c:ser>
        <c:ser>
          <c:idx val="1"/>
          <c:order val="1"/>
          <c:tx>
            <c:strRef>
              <c:extLst>
                <c:ext xmlns:c15="http://schemas.microsoft.com/office/drawing/2012/chart" uri="{02D57815-91ED-43cb-92C2-25804820EDAC}">
                  <c15:fullRef>
                    <c15:sqref>Sheet1!$C$1</c15:sqref>
                  </c15:fullRef>
                  <c15:levelRef>
                    <c15:sqref>Sheet1!$C$1</c15:sqref>
                  </c15:levelRef>
                </c:ext>
              </c:extLst>
              <c:f>Sheet1!$C$1</c:f>
              <c:strCache>
                <c:ptCount val="1"/>
                <c:pt idx="0">
                  <c:v>50.00%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extLst>
                <c:ext xmlns:c15="http://schemas.microsoft.com/office/drawing/2012/chart" uri="{02D57815-91ED-43cb-92C2-25804820EDAC}">
                  <c15:fullRef>
                    <c15:sqref>Sheet1!$D$1</c15:sqref>
                  </c15:fullRef>
                  <c15:levelRef>
                    <c15:sqref>Sheet1!$D$1</c15:sqref>
                  </c15:levelRef>
                </c:ext>
              </c:extLst>
              <c:f>Sheet1!$D$1</c:f>
              <c:strCache>
                <c:ptCount val="1"/>
                <c:pt idx="0">
                  <c:v>100.00%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改善后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2641961"/>
        <c:axId val="665390645"/>
      </c:barChart>
      <c:catAx>
        <c:axId val="54264196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65390645"/>
        <c:crosses val="autoZero"/>
        <c:auto val="1"/>
        <c:lblAlgn val="ctr"/>
        <c:lblOffset val="100"/>
        <c:noMultiLvlLbl val="0"/>
      </c:catAx>
      <c:valAx>
        <c:axId val="66539064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264196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9bc82fe-b353-4938-a853-fb504b503ca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extLst>
                <c:ext xmlns:c15="http://schemas.microsoft.com/office/drawing/2012/chart" uri="{02D57815-91ED-43cb-92C2-25804820EDAC}">
                  <c15:fullRef>
                    <c15:sqref>Sheet1!$B$1</c15:sqref>
                  </c15:fullRef>
                  <c15:levelRef>
                    <c15:sqref>Sheet1!$B$1</c15:sqref>
                  </c15:levelRef>
                </c:ext>
              </c:extLst>
              <c:f>Sheet1!$B$1</c:f>
              <c:strCache>
                <c:ptCount val="1"/>
                <c:pt idx="0">
                  <c:v>改善前</c:v>
                </c:pt>
              </c:strCache>
            </c:strRef>
          </c:tx>
          <c:spPr>
            <a:ln w="28575" cap="rnd">
              <a:solidFill>
                <a:schemeClr val="accent4">
                  <a:shade val="76667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Sheet1!$A$2:$A$8</c15:sqref>
                  </c15:fullRef>
                </c:ext>
              </c:extLst>
              <c:f>Sheet1!$A$2:$A$8</c:f>
              <c:strCache>
                <c:ptCount val="7"/>
                <c:pt idx="0" c:formatCode="yyyy/m/d">
                  <c:v>解决问题能力</c:v>
                </c:pt>
                <c:pt idx="1" c:formatCode="yyyy/m/d">
                  <c:v>责任心</c:v>
                </c:pt>
                <c:pt idx="2" c:formatCode="yyyy/m/d">
                  <c:v>沟通协调</c:v>
                </c:pt>
                <c:pt idx="3" c:formatCode="yyyy/m/d">
                  <c:v>自信心</c:v>
                </c:pt>
                <c:pt idx="4" c:formatCode="yyyy/m/d">
                  <c:v>团队凝聚力</c:v>
                </c:pt>
                <c:pt idx="5" c:formatCode="yyyy/m/d">
                  <c:v>积极性</c:v>
                </c:pt>
                <c:pt idx="6" c:formatCode="yyyy/m/d">
                  <c:v>和谐度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2.25</c:v>
                </c:pt>
                <c:pt idx="2">
                  <c:v>1.75</c:v>
                </c:pt>
                <c:pt idx="3">
                  <c:v>2</c:v>
                </c:pt>
                <c:pt idx="4">
                  <c:v>2</c:v>
                </c:pt>
                <c:pt idx="5">
                  <c:v>1.5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extLst>
                <c:ext xmlns:c15="http://schemas.microsoft.com/office/drawing/2012/chart" uri="{02D57815-91ED-43cb-92C2-25804820EDAC}">
                  <c15:fullRef>
                    <c15:sqref>Sheet1!$C$1</c15:sqref>
                  </c15:fullRef>
                  <c15:levelRef>
                    <c15:sqref>Sheet1!$C$1</c15:sqref>
                  </c15:levelRef>
                </c:ext>
              </c:extLst>
              <c:f>Sheet1!$C$1</c:f>
              <c:strCache>
                <c:ptCount val="1"/>
                <c:pt idx="0">
                  <c:v>改善后</c:v>
                </c:pt>
              </c:strCache>
            </c:strRef>
          </c:tx>
          <c:spPr>
            <a:ln w="28575" cap="rnd">
              <a:solidFill>
                <a:schemeClr val="accent4">
                  <a:tint val="76667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Sheet1!$A$2:$A$8</c15:sqref>
                  </c15:fullRef>
                </c:ext>
              </c:extLst>
              <c:f>Sheet1!$A$2:$A$8</c:f>
              <c:strCache>
                <c:ptCount val="7"/>
                <c:pt idx="0" c:formatCode="yyyy/m/d">
                  <c:v>解决问题能力</c:v>
                </c:pt>
                <c:pt idx="1" c:formatCode="yyyy/m/d">
                  <c:v>责任心</c:v>
                </c:pt>
                <c:pt idx="2" c:formatCode="yyyy/m/d">
                  <c:v>沟通协调</c:v>
                </c:pt>
                <c:pt idx="3" c:formatCode="yyyy/m/d">
                  <c:v>自信心</c:v>
                </c:pt>
                <c:pt idx="4" c:formatCode="yyyy/m/d">
                  <c:v>团队凝聚力</c:v>
                </c:pt>
                <c:pt idx="5" c:formatCode="yyyy/m/d">
                  <c:v>积极性</c:v>
                </c:pt>
                <c:pt idx="6" c:formatCode="yyyy/m/d">
                  <c:v>和谐度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3.5</c:v>
                </c:pt>
                <c:pt idx="4">
                  <c:v>4</c:v>
                </c:pt>
                <c:pt idx="5">
                  <c:v>3.75</c:v>
                </c:pt>
                <c:pt idx="6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5072735"/>
        <c:axId val="583612988"/>
      </c:radarChart>
      <c:catAx>
        <c:axId val="57507273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3612988"/>
        <c:crosses val="autoZero"/>
        <c:auto val="1"/>
        <c:lblAlgn val="ctr"/>
        <c:lblOffset val="100"/>
        <c:noMultiLvlLbl val="0"/>
      </c:catAx>
      <c:valAx>
        <c:axId val="5836129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75072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2fe7e9a-a3c3-4bf7-ae32-7c6440a0592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extLst>
                <c:ext xmlns:c15="http://schemas.microsoft.com/office/drawing/2012/chart" uri="{02D57815-91ED-43cb-92C2-25804820EDAC}">
                  <c15:fullRef>
                    <c15:sqref>Sheet1!$B$1</c15:sqref>
                  </c15:fullRef>
                  <c15:levelRef>
                    <c15:sqref>Sheet1!$B$1</c15:sqref>
                  </c15:levelRef>
                </c:ext>
              </c:extLst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gradFill>
              <a:gsLst>
                <a:gs pos="25000">
                  <a:srgbClr val="FFD83A"/>
                </a:gs>
                <a:gs pos="75000">
                  <a:srgbClr val="FFFD6D"/>
                </a:gs>
                <a:gs pos="0">
                  <a:srgbClr val="F8C334"/>
                </a:gs>
                <a:gs pos="100000">
                  <a:srgbClr val="FFFEB8"/>
                </a:gs>
              </a:gsLst>
              <a:lin ang="18900000"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目标值</c:v>
                </c:pt>
                <c:pt idx="2">
                  <c:v>改善后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0.5714</c:v>
                </c:pt>
                <c:pt idx="1" c:formatCode="0%">
                  <c:v>0.796</c:v>
                </c:pt>
                <c:pt idx="2">
                  <c:v>0.8333</c:v>
                </c:pt>
              </c:numCache>
            </c:numRef>
          </c:val>
        </c:ser>
        <c:ser>
          <c:idx val="1"/>
          <c:order val="1"/>
          <c:tx>
            <c:strRef>
              <c:extLst>
                <c:ext xmlns:c15="http://schemas.microsoft.com/office/drawing/2012/chart" uri="{02D57815-91ED-43cb-92C2-25804820EDAC}">
                  <c15:fullRef>
                    <c15:sqref>Sheet1!$C$1</c15:sqref>
                  </c15:fullRef>
                  <c15:levelRef>
                    <c15:sqref>Sheet1!$C$1</c15:sqref>
                  </c15:levelRef>
                </c:ext>
              </c:extLst>
              <c:f>Sheet1!$C$1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目标值</c:v>
                </c:pt>
                <c:pt idx="2">
                  <c:v>改善后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extLst>
                <c:ext xmlns:c15="http://schemas.microsoft.com/office/drawing/2012/chart" uri="{02D57815-91ED-43cb-92C2-25804820EDAC}">
                  <c15:fullRef>
                    <c15:sqref>Sheet1!$D$1</c15:sqref>
                  </c15:fullRef>
                  <c15:levelRef>
                    <c15:sqref>Sheet1!$D$1</c15:sqref>
                  </c15:levelRef>
                </c:ext>
              </c:extLst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Sheet1!$A$2:$A$5</c:f>
              <c:strCache>
                <c:ptCount val="4"/>
                <c:pt idx="0">
                  <c:v>改善前</c:v>
                </c:pt>
                <c:pt idx="1">
                  <c:v>目标值</c:v>
                </c:pt>
                <c:pt idx="2">
                  <c:v>改善后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8264211"/>
        <c:axId val="521589303"/>
      </c:barChart>
      <c:catAx>
        <c:axId val="82826421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21589303"/>
        <c:crosses val="autoZero"/>
        <c:auto val="1"/>
        <c:lblAlgn val="ctr"/>
        <c:lblOffset val="100"/>
        <c:noMultiLvlLbl val="0"/>
      </c:catAx>
      <c:valAx>
        <c:axId val="521589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82642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2e60358-a164-47c7-aa0b-c2c291ddf14c}"/>
      </c:ext>
    </c:extLst>
  </c:chart>
  <c:spPr>
    <a:solidFill>
      <a:schemeClr val="tx2">
        <a:lumMod val="50000"/>
        <a:lumOff val="50000"/>
      </a:scheme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0.42169</cdr:x>
      <cdr:y>0.22166</cdr:y>
    </cdr:from>
    <cdr:to>
      <cdr:x>0.42313</cdr:x>
      <cdr:y>0.83863</cdr:y>
    </cdr:to>
    <cdr:cxnSp>
      <cdr:nvCxnSpPr>
        <cdr:cNvPr id="2" name="直接连接符 1"/>
        <cdr:cNvCxnSpPr/>
      </cdr:nvCxnSpPr>
      <cdr:spPr xmlns:a="http://schemas.openxmlformats.org/drawingml/2006/main">
        <a:xfrm xmlns:a="http://schemas.openxmlformats.org/drawingml/2006/main">
          <a:off x="2667000" y="838200"/>
          <a:ext cx="9107" cy="2333000"/>
        </a:xfrm>
        <a:prstGeom xmlns:a="http://schemas.openxmlformats.org/drawingml/2006/main" prst="line">
          <a:avLst/>
        </a:prstGeom>
        <a:ln w="12700" cap="flat" cmpd="sng" algn="ctr">
          <a:solidFill>
            <a:srgbClr val="FF0000"/>
          </a:solidFill>
          <a:prstDash val="dash"/>
          <a:miter lim="800000"/>
        </a:ln>
      </cdr:spPr>
      <cdr:style>
        <a:lnRef xmlns:a="http://schemas.openxmlformats.org/drawingml/2006/main" idx="0">
          <a:schemeClr val="accent1"/>
        </a:lnRef>
        <a:fillRef xmlns:a="http://schemas.openxmlformats.org/drawingml/2006/main" idx="0">
          <a:srgbClr val="FFFFFF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0.43373</cdr:x>
      <cdr:y>0.22166</cdr:y>
    </cdr:from>
    <cdr:to>
      <cdr:x>0.96386</cdr:x>
      <cdr:y>0.22687</cdr:y>
    </cdr:to>
    <cdr:cxnSp>
      <cdr:nvCxnSpPr>
        <cdr:cNvPr id="3" name="直接连接符 2"/>
        <cdr:cNvCxnSpPr/>
      </cdr:nvCxnSpPr>
      <cdr:spPr xmlns:a="http://schemas.openxmlformats.org/drawingml/2006/main">
        <a:xfrm xmlns:a="http://schemas.openxmlformats.org/drawingml/2006/main" flipH="1">
          <a:off x="2743200" y="838200"/>
          <a:ext cx="3352800" cy="19685"/>
        </a:xfrm>
        <a:prstGeom xmlns:a="http://schemas.openxmlformats.org/drawingml/2006/main" prst="line">
          <a:avLst/>
        </a:prstGeom>
        <a:ln w="12700" cap="flat" cmpd="sng" algn="ctr">
          <a:solidFill>
            <a:srgbClr val="FF0000"/>
          </a:solidFill>
          <a:prstDash val="dash"/>
          <a:miter lim="800000"/>
        </a:ln>
      </cdr:spPr>
      <cdr:style>
        <a:lnRef xmlns:a="http://schemas.openxmlformats.org/drawingml/2006/main" idx="0">
          <a:schemeClr val="accent1"/>
        </a:lnRef>
        <a:fillRef xmlns:a="http://schemas.openxmlformats.org/drawingml/2006/main" idx="0">
          <a:srgbClr val="FFFFFF"/>
        </a:fillRef>
        <a:effectRef xmlns:a="http://schemas.openxmlformats.org/drawingml/2006/main" idx="0">
          <a:srgbClr val="FFFFFF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tags" Target="../tags/tag17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image" Target="../media/image1.png"/><Relationship Id="rId2" Type="http://schemas.openxmlformats.org/officeDocument/2006/relationships/tags" Target="../tags/tag25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305.xml"/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322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30.xml"/><Relationship Id="rId8" Type="http://schemas.openxmlformats.org/officeDocument/2006/relationships/tags" Target="../tags/tag329.xml"/><Relationship Id="rId7" Type="http://schemas.openxmlformats.org/officeDocument/2006/relationships/tags" Target="../tags/tag328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5" Type="http://schemas.openxmlformats.org/officeDocument/2006/relationships/tags" Target="../tags/tag339.xml"/><Relationship Id="rId4" Type="http://schemas.openxmlformats.org/officeDocument/2006/relationships/tags" Target="../tags/tag338.xml"/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tags" Target="../tags/tag353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70.xml"/><Relationship Id="rId8" Type="http://schemas.openxmlformats.org/officeDocument/2006/relationships/tags" Target="../tags/tag369.xml"/><Relationship Id="rId7" Type="http://schemas.openxmlformats.org/officeDocument/2006/relationships/image" Target="../media/image10.png"/><Relationship Id="rId6" Type="http://schemas.openxmlformats.org/officeDocument/2006/relationships/tags" Target="../tags/tag368.xml"/><Relationship Id="rId5" Type="http://schemas.openxmlformats.org/officeDocument/2006/relationships/image" Target="../media/image9.png"/><Relationship Id="rId4" Type="http://schemas.openxmlformats.org/officeDocument/2006/relationships/tags" Target="../tags/tag367.xml"/><Relationship Id="rId3" Type="http://schemas.openxmlformats.org/officeDocument/2006/relationships/image" Target="../media/image8.jpeg"/><Relationship Id="rId2" Type="http://schemas.openxmlformats.org/officeDocument/2006/relationships/tags" Target="../tags/tag366.xml"/><Relationship Id="rId10" Type="http://schemas.openxmlformats.org/officeDocument/2006/relationships/tags" Target="../tags/tag371.xm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81.xml"/><Relationship Id="rId8" Type="http://schemas.openxmlformats.org/officeDocument/2006/relationships/tags" Target="../tags/tag380.xml"/><Relationship Id="rId7" Type="http://schemas.openxmlformats.org/officeDocument/2006/relationships/image" Target="../media/image10.png"/><Relationship Id="rId6" Type="http://schemas.openxmlformats.org/officeDocument/2006/relationships/tags" Target="../tags/tag379.xml"/><Relationship Id="rId5" Type="http://schemas.openxmlformats.org/officeDocument/2006/relationships/image" Target="../media/image9.png"/><Relationship Id="rId4" Type="http://schemas.openxmlformats.org/officeDocument/2006/relationships/tags" Target="../tags/tag378.xml"/><Relationship Id="rId3" Type="http://schemas.openxmlformats.org/officeDocument/2006/relationships/image" Target="../media/image8.jpeg"/><Relationship Id="rId2" Type="http://schemas.openxmlformats.org/officeDocument/2006/relationships/tags" Target="../tags/tag377.xml"/><Relationship Id="rId11" Type="http://schemas.openxmlformats.org/officeDocument/2006/relationships/tags" Target="../tags/tag383.xml"/><Relationship Id="rId10" Type="http://schemas.openxmlformats.org/officeDocument/2006/relationships/tags" Target="../tags/tag382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image" Target="../media/image10.png"/><Relationship Id="rId6" Type="http://schemas.openxmlformats.org/officeDocument/2006/relationships/tags" Target="../tags/tag386.xml"/><Relationship Id="rId5" Type="http://schemas.openxmlformats.org/officeDocument/2006/relationships/image" Target="../media/image9.png"/><Relationship Id="rId4" Type="http://schemas.openxmlformats.org/officeDocument/2006/relationships/tags" Target="../tags/tag385.xml"/><Relationship Id="rId3" Type="http://schemas.openxmlformats.org/officeDocument/2006/relationships/image" Target="../media/image8.jpeg"/><Relationship Id="rId2" Type="http://schemas.openxmlformats.org/officeDocument/2006/relationships/tags" Target="../tags/tag384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397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405.xml"/><Relationship Id="rId8" Type="http://schemas.openxmlformats.org/officeDocument/2006/relationships/tags" Target="../tags/tag404.xml"/><Relationship Id="rId7" Type="http://schemas.openxmlformats.org/officeDocument/2006/relationships/tags" Target="../tags/tag403.xml"/><Relationship Id="rId6" Type="http://schemas.openxmlformats.org/officeDocument/2006/relationships/tags" Target="../tags/tag402.xml"/><Relationship Id="rId5" Type="http://schemas.openxmlformats.org/officeDocument/2006/relationships/tags" Target="../tags/tag401.xml"/><Relationship Id="rId4" Type="http://schemas.openxmlformats.org/officeDocument/2006/relationships/tags" Target="../tags/tag400.xml"/><Relationship Id="rId3" Type="http://schemas.openxmlformats.org/officeDocument/2006/relationships/tags" Target="../tags/tag399.xml"/><Relationship Id="rId2" Type="http://schemas.openxmlformats.org/officeDocument/2006/relationships/tags" Target="../tags/tag398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409.xml"/><Relationship Id="rId4" Type="http://schemas.openxmlformats.org/officeDocument/2006/relationships/tags" Target="../tags/tag408.xml"/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tags" Target="../tags/tag412.xml"/><Relationship Id="rId3" Type="http://schemas.openxmlformats.org/officeDocument/2006/relationships/tags" Target="../tags/tag411.xml"/><Relationship Id="rId2" Type="http://schemas.openxmlformats.org/officeDocument/2006/relationships/tags" Target="../tags/tag410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" Type="http://schemas.openxmlformats.org/officeDocument/2006/relationships/tags" Target="../tags/tag413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6" Type="http://schemas.openxmlformats.org/officeDocument/2006/relationships/tags" Target="../tags/tag421.xml"/><Relationship Id="rId5" Type="http://schemas.openxmlformats.org/officeDocument/2006/relationships/tags" Target="../tags/tag420.xml"/><Relationship Id="rId4" Type="http://schemas.openxmlformats.org/officeDocument/2006/relationships/tags" Target="../tags/tag419.xml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image" Target="../media/image10.png"/><Relationship Id="rId6" Type="http://schemas.openxmlformats.org/officeDocument/2006/relationships/tags" Target="../tags/tag424.xml"/><Relationship Id="rId5" Type="http://schemas.openxmlformats.org/officeDocument/2006/relationships/image" Target="../media/image9.png"/><Relationship Id="rId4" Type="http://schemas.openxmlformats.org/officeDocument/2006/relationships/tags" Target="../tags/tag423.xml"/><Relationship Id="rId3" Type="http://schemas.openxmlformats.org/officeDocument/2006/relationships/image" Target="../media/image8.jpeg"/><Relationship Id="rId2" Type="http://schemas.openxmlformats.org/officeDocument/2006/relationships/tags" Target="../tags/tag422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152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2032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704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1524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21082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57250" y="241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1402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4470400" y="21082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4718050" y="241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4704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470400" y="41402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331200" y="21082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8578850" y="2413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8331200" y="3632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8331200" y="41402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20701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5781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438400" y="45847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438400" y="50927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8432800" cy="2209800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042400" y="15240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20447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6035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038600"/>
            <a:ext cx="8432800" cy="2209800"/>
          </a:xfrm>
          <a:custGeom>
            <a:avLst/>
            <a:gdLst>
              <a:gd name="connisteX0" fmla="*/ 0 w 8432800"/>
              <a:gd name="connsiteY0" fmla="*/ 203200 h 2209800"/>
              <a:gd name="connisteX1" fmla="*/ 203200 w 8432800"/>
              <a:gd name="connsiteY1" fmla="*/ 0 h 2209800"/>
              <a:gd name="connisteX2" fmla="*/ 8432800 w 8432800"/>
              <a:gd name="connsiteY2" fmla="*/ 0 h 2209800"/>
              <a:gd name="connisteX3" fmla="*/ 8432800 w 8432800"/>
              <a:gd name="connsiteY3" fmla="*/ 2209800 h 2209800"/>
              <a:gd name="connisteX4" fmla="*/ 203200 w 8432800"/>
              <a:gd name="connsiteY4" fmla="*/ 2209800 h 2209800"/>
              <a:gd name="connisteX5" fmla="*/ 0 w 8432800"/>
              <a:gd name="connsiteY5" fmla="*/ 2006600 h 2209800"/>
              <a:gd name="connisteX6" fmla="*/ 0 w 8432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8432800" y="0"/>
                </a:lnTo>
                <a:lnTo>
                  <a:pt x="8432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9042400" y="4038600"/>
            <a:ext cx="2540000" cy="2209800"/>
          </a:xfrm>
          <a:custGeom>
            <a:avLst/>
            <a:gd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14400" y="45593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14400" y="5118100"/>
            <a:ext cx="782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8034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362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4191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7498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191000" y="1524000"/>
            <a:ext cx="7391400" cy="4724400"/>
          </a:xfrm>
          <a:custGeom>
            <a:avLst/>
            <a:gdLst>
              <a:gd name="connisteX0" fmla="*/ 0 w 7391400"/>
              <a:gd name="connsiteY0" fmla="*/ 0 h 4724400"/>
              <a:gd name="connisteX1" fmla="*/ 7188200 w 7391400"/>
              <a:gd name="connsiteY1" fmla="*/ 0 h 4724400"/>
              <a:gd name="connisteX2" fmla="*/ 7391400 w 7391400"/>
              <a:gd name="connsiteY2" fmla="*/ 203200 h 4724400"/>
              <a:gd name="connisteX3" fmla="*/ 7391400 w 7391400"/>
              <a:gd name="connsiteY3" fmla="*/ 4521200 h 4724400"/>
              <a:gd name="connisteX4" fmla="*/ 7188200 w 7391400"/>
              <a:gd name="connsiteY4" fmla="*/ 4724400 h 4724400"/>
              <a:gd name="connisteX5" fmla="*/ 0 w 7391400"/>
              <a:gd name="connsiteY5" fmla="*/ 4724400 h 4724400"/>
              <a:gd name="connisteX6" fmla="*/ 0 w 739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0"/>
                </a:moveTo>
                <a:lnTo>
                  <a:pt x="7188200" y="0"/>
                </a:lnTo>
                <a:cubicBezTo>
                  <a:pt x="7300424" y="0"/>
                  <a:pt x="7391400" y="90976"/>
                  <a:pt x="7391400" y="203200"/>
                </a:cubicBezTo>
                <a:lnTo>
                  <a:pt x="7391400" y="4521200"/>
                </a:lnTo>
                <a:cubicBezTo>
                  <a:pt x="7391400" y="4633424"/>
                  <a:pt x="7300424" y="4724400"/>
                  <a:pt x="718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648200" y="2108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648200" y="26670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48200" y="41910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48200" y="47498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1" name="图片占位符 10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2184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184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6924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858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858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858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858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858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858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4008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4008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esktop\中医课件\微信截图_20220213172224.png微信截图_202202131722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1339427"/>
            <a:ext cx="12192000" cy="417914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65600" y="6381749"/>
            <a:ext cx="3860800" cy="47625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ctrTitle"/>
            <p:custDataLst>
              <p:tags r:id="rId5"/>
            </p:custDataLst>
          </p:nvPr>
        </p:nvSpPr>
        <p:spPr>
          <a:xfrm>
            <a:off x="914400" y="2130427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dt" sz="half" idx="2"/>
            <p:custDataLst>
              <p:tags r:id="rId7"/>
            </p:custDataLst>
          </p:nvPr>
        </p:nvSpPr>
        <p:spPr bwMode="auto">
          <a:xfrm>
            <a:off x="609600" y="6245225"/>
            <a:ext cx="2844800" cy="476251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fld id="{36742A08-E58D-498F-86DE-C2A56C6AD5C6}" type="datetime1">
              <a:rPr lang="zh-CN" altLang="en-US" smtClean="0"/>
            </a:fld>
            <a:endParaRPr lang="en-US" altLang="zh-CN"/>
          </a:p>
        </p:txBody>
      </p:sp>
      <p:sp>
        <p:nvSpPr>
          <p:cNvPr id="20" name="Rectangle 6"/>
          <p:cNvSpPr>
            <a:spLocks noGrp="1" noChangeArrowheads="1"/>
          </p:cNvSpPr>
          <p:nvPr>
            <p:ph type="ftr" sz="quarter" idx="3"/>
            <p:custDataLst>
              <p:tags r:id="rId8"/>
            </p:custDataLst>
          </p:nvPr>
        </p:nvSpPr>
        <p:spPr bwMode="auto">
          <a:xfrm>
            <a:off x="4165600" y="6245225"/>
            <a:ext cx="3860800" cy="476251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Rectangle 7"/>
          <p:cNvSpPr>
            <a:spLocks noGrp="1" noChangeArrowheads="1"/>
          </p:cNvSpPr>
          <p:nvPr>
            <p:ph type="sldNum" sz="quarter" idx="4"/>
            <p:custDataLst>
              <p:tags r:id="rId9"/>
            </p:custDataLst>
          </p:nvPr>
        </p:nvSpPr>
        <p:spPr bwMode="auto">
          <a:xfrm>
            <a:off x="8737600" y="6245225"/>
            <a:ext cx="2844800" cy="476251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274639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  <p:custDataLst>
              <p:tags r:id="rId4"/>
            </p:custDataLst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  <p:custDataLst>
              <p:tags r:id="rId5"/>
            </p:custDataLst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  <p:custDataLst>
              <p:tags r:id="rId2"/>
            </p:custDataLst>
          </p:nvPr>
        </p:nvSpPr>
        <p:spPr>
          <a:xfrm>
            <a:off x="609600" y="274639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  <p:custDataLst>
              <p:tags r:id="rId4"/>
            </p:custDataLst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  <p:custDataLst>
              <p:tags r:id="rId5"/>
            </p:custDataLst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274639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09600" y="1600201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57175" marR="0" lvl="0" indent="-257175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  <p:custDataLst>
              <p:tags r:id="rId2"/>
            </p:custDataLst>
          </p:nvPr>
        </p:nvSpPr>
        <p:spPr>
          <a:xfrm>
            <a:off x="609600" y="274640"/>
            <a:ext cx="10972800" cy="5851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pPr>
              <a:defRPr/>
            </a:pPr>
            <a:fld id="{A1D13197-A34A-4938-A3A1-C5294712463D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pPr eaLnBrk="1" hangingPunct="1"/>
            <a:fld id="{9A0DB2DC-4C9A-4742-B13C-FB6460FD3503}" type="slidenum">
              <a:rPr lang="zh-CN" altLang="en-US" dirty="0">
                <a:solidFill>
                  <a:srgbClr val="000000"/>
                </a:solidFill>
              </a:rPr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模版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图片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6400" y="457200"/>
            <a:ext cx="984251" cy="487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12" descr="院徽副本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65807"/>
          <a:stretch>
            <a:fillRect/>
          </a:stretch>
        </p:blipFill>
        <p:spPr>
          <a:xfrm>
            <a:off x="812800" y="76200"/>
            <a:ext cx="33528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5129382" y="3788934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8" name="副标题 2"/>
          <p:cNvSpPr txBox="1"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2314575" y="2852102"/>
            <a:ext cx="7969250" cy="4622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7" name="标题 1"/>
          <p:cNvSpPr txBox="1"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314575" y="1649412"/>
            <a:ext cx="7969250" cy="11861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单击编辑母版标题</a:t>
            </a:r>
            <a:endParaRPr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模版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图片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6400" y="457200"/>
            <a:ext cx="984251" cy="487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12" descr="院徽副本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65807"/>
          <a:stretch>
            <a:fillRect/>
          </a:stretch>
        </p:blipFill>
        <p:spPr>
          <a:xfrm>
            <a:off x="812800" y="76200"/>
            <a:ext cx="33528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模版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图片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6400" y="457200"/>
            <a:ext cx="984251" cy="487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12" descr="院徽副本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65807"/>
          <a:stretch>
            <a:fillRect/>
          </a:stretch>
        </p:blipFill>
        <p:spPr>
          <a:xfrm>
            <a:off x="812800" y="76200"/>
            <a:ext cx="33528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53460" y="2199283"/>
            <a:ext cx="4093845" cy="1508125"/>
          </a:xfrm>
        </p:spPr>
        <p:txBody>
          <a:bodyPr wrap="square" anchor="ctr" anchorCtr="0">
            <a:normAutofit/>
          </a:bodyPr>
          <a:lstStyle>
            <a:lvl1pPr algn="r">
              <a:lnSpc>
                <a:spcPct val="10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 noChangeAspect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8037830" y="2449345"/>
            <a:ext cx="1008000" cy="1008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wrap="none"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ln>
                  <a:noFill/>
                </a:ln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模版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图片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6400" y="457200"/>
            <a:ext cx="984251" cy="487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12" descr="院徽副本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65807"/>
          <a:stretch>
            <a:fillRect/>
          </a:stretch>
        </p:blipFill>
        <p:spPr>
          <a:xfrm>
            <a:off x="812800" y="76200"/>
            <a:ext cx="33528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5128788" y="3576885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chemeClr val="lt1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3315335" y="1861185"/>
            <a:ext cx="5968365" cy="1524635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880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1" Type="http://schemas.openxmlformats.org/officeDocument/2006/relationships/theme" Target="../theme/theme2.xml"/><Relationship Id="rId50" Type="http://schemas.openxmlformats.org/officeDocument/2006/relationships/tags" Target="../tags/tag350.xml"/><Relationship Id="rId5" Type="http://schemas.openxmlformats.org/officeDocument/2006/relationships/slideLayout" Target="../slideLayouts/slideLayout15.xml"/><Relationship Id="rId49" Type="http://schemas.openxmlformats.org/officeDocument/2006/relationships/image" Target="../media/image7.png"/><Relationship Id="rId48" Type="http://schemas.openxmlformats.org/officeDocument/2006/relationships/tags" Target="../tags/tag349.xml"/><Relationship Id="rId47" Type="http://schemas.openxmlformats.org/officeDocument/2006/relationships/tags" Target="../tags/tag348.xml"/><Relationship Id="rId46" Type="http://schemas.openxmlformats.org/officeDocument/2006/relationships/image" Target="../media/image6.png"/><Relationship Id="rId45" Type="http://schemas.openxmlformats.org/officeDocument/2006/relationships/tags" Target="../tags/tag347.xml"/><Relationship Id="rId44" Type="http://schemas.openxmlformats.org/officeDocument/2006/relationships/image" Target="../media/image5.png"/><Relationship Id="rId43" Type="http://schemas.openxmlformats.org/officeDocument/2006/relationships/tags" Target="../tags/tag346.xml"/><Relationship Id="rId42" Type="http://schemas.openxmlformats.org/officeDocument/2006/relationships/image" Target="../media/image4.png"/><Relationship Id="rId41" Type="http://schemas.openxmlformats.org/officeDocument/2006/relationships/tags" Target="../tags/tag345.xml"/><Relationship Id="rId40" Type="http://schemas.openxmlformats.org/officeDocument/2006/relationships/tags" Target="../tags/tag344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343.xml"/><Relationship Id="rId38" Type="http://schemas.openxmlformats.org/officeDocument/2006/relationships/tags" Target="../tags/tag342.xml"/><Relationship Id="rId37" Type="http://schemas.openxmlformats.org/officeDocument/2006/relationships/tags" Target="../tags/tag341.xml"/><Relationship Id="rId36" Type="http://schemas.openxmlformats.org/officeDocument/2006/relationships/tags" Target="../tags/tag340.xml"/><Relationship Id="rId35" Type="http://schemas.microsoft.com/office/2007/relationships/hdphoto" Target="../media/image3.wdp"/><Relationship Id="rId34" Type="http://schemas.openxmlformats.org/officeDocument/2006/relationships/image" Target="../media/image2.png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7" Type="http://schemas.openxmlformats.org/officeDocument/2006/relationships/theme" Target="../theme/theme3.xml"/><Relationship Id="rId16" Type="http://schemas.openxmlformats.org/officeDocument/2006/relationships/tags" Target="../tags/tag365.xml"/><Relationship Id="rId15" Type="http://schemas.openxmlformats.org/officeDocument/2006/relationships/tags" Target="../tags/tag364.xml"/><Relationship Id="rId14" Type="http://schemas.openxmlformats.org/officeDocument/2006/relationships/image" Target="../media/image6.png"/><Relationship Id="rId13" Type="http://schemas.openxmlformats.org/officeDocument/2006/relationships/tags" Target="../tags/tag363.xml"/><Relationship Id="rId12" Type="http://schemas.openxmlformats.org/officeDocument/2006/relationships/image" Target="../media/image5.png"/><Relationship Id="rId11" Type="http://schemas.openxmlformats.org/officeDocument/2006/relationships/tags" Target="../tags/tag362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3" Type="http://schemas.openxmlformats.org/officeDocument/2006/relationships/theme" Target="../theme/theme4.xml"/><Relationship Id="rId22" Type="http://schemas.openxmlformats.org/officeDocument/2006/relationships/tags" Target="../tags/tag434.xml"/><Relationship Id="rId21" Type="http://schemas.openxmlformats.org/officeDocument/2006/relationships/tags" Target="../tags/tag433.xml"/><Relationship Id="rId20" Type="http://schemas.openxmlformats.org/officeDocument/2006/relationships/tags" Target="../tags/tag432.xml"/><Relationship Id="rId2" Type="http://schemas.openxmlformats.org/officeDocument/2006/relationships/slideLayout" Target="../slideLayouts/slideLayout46.xml"/><Relationship Id="rId19" Type="http://schemas.openxmlformats.org/officeDocument/2006/relationships/tags" Target="../tags/tag431.xml"/><Relationship Id="rId18" Type="http://schemas.openxmlformats.org/officeDocument/2006/relationships/tags" Target="../tags/tag430.xml"/><Relationship Id="rId17" Type="http://schemas.openxmlformats.org/officeDocument/2006/relationships/image" Target="../media/image10.png"/><Relationship Id="rId16" Type="http://schemas.openxmlformats.org/officeDocument/2006/relationships/tags" Target="../tags/tag429.xml"/><Relationship Id="rId15" Type="http://schemas.openxmlformats.org/officeDocument/2006/relationships/image" Target="../media/image9.png"/><Relationship Id="rId14" Type="http://schemas.openxmlformats.org/officeDocument/2006/relationships/tags" Target="../tags/tag428.xml"/><Relationship Id="rId13" Type="http://schemas.openxmlformats.org/officeDocument/2006/relationships/image" Target="../media/image8.jpeg"/><Relationship Id="rId12" Type="http://schemas.openxmlformats.org/officeDocument/2006/relationships/tags" Target="../tags/tag427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4" cstate="print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colorTemperature colorTemp="5375"/>
                    </a14:imgEffect>
                    <a14:imgEffect>
                      <a14:saturation sat="13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  <p:custDataLst>
              <p:tags r:id="rId37"/>
            </p:custDataLst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8309" name="Rectangle 5"/>
          <p:cNvSpPr>
            <a:spLocks noGrp="1" noChangeArrowheads="1"/>
          </p:cNvSpPr>
          <p:nvPr>
            <p:ph type="dt" sz="half" idx="2"/>
            <p:custDataLst>
              <p:tags r:id="rId38"/>
            </p:custDataLst>
          </p:nvPr>
        </p:nvSpPr>
        <p:spPr bwMode="auto">
          <a:xfrm>
            <a:off x="609600" y="6245225"/>
            <a:ext cx="2844800" cy="4762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A1D13197-A34A-4938-A3A1-C5294712463D}" type="datetime1">
              <a:rPr lang="zh-CN" altLang="en-US" smtClean="0"/>
            </a:fld>
            <a:endParaRPr lang="en-US" altLang="zh-CN"/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3"/>
            <p:custDataLst>
              <p:tags r:id="rId39"/>
            </p:custDataLst>
          </p:nvPr>
        </p:nvSpPr>
        <p:spPr bwMode="auto">
          <a:xfrm>
            <a:off x="4165600" y="6245225"/>
            <a:ext cx="3860800" cy="4762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4"/>
            <p:custDataLst>
              <p:tags r:id="rId40"/>
            </p:custDataLst>
          </p:nvPr>
        </p:nvSpPr>
        <p:spPr bwMode="auto">
          <a:xfrm>
            <a:off x="8737600" y="6245225"/>
            <a:ext cx="2844800" cy="4762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+mn-lt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32" name="Picture 10" descr="图片1"/>
          <p:cNvPicPr>
            <a:picLocks noChangeAspect="1"/>
          </p:cNvPicPr>
          <p:nvPr userDrawn="1">
            <p:custDataLst>
              <p:tags r:id="rId41"/>
            </p:custDataLst>
          </p:nvPr>
        </p:nvPicPr>
        <p:blipFill>
          <a:blip r:embed="rId42" cstate="print"/>
          <a:stretch>
            <a:fillRect/>
          </a:stretch>
        </p:blipFill>
        <p:spPr>
          <a:xfrm>
            <a:off x="249345" y="279188"/>
            <a:ext cx="766233" cy="33813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开封市中医院 书法体3"/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 r:embed="rId44" cstate="print"/>
          <a:stretch>
            <a:fillRect/>
          </a:stretch>
        </p:blipFill>
        <p:spPr>
          <a:xfrm>
            <a:off x="1015577" y="144041"/>
            <a:ext cx="2592916" cy="574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" name="Picture 12" descr="院训  书法体启笛幻灯顺序"/>
          <p:cNvPicPr>
            <a:picLocks noChangeAspect="1"/>
          </p:cNvPicPr>
          <p:nvPr userDrawn="1">
            <p:custDataLst>
              <p:tags r:id="rId45"/>
            </p:custDataLst>
          </p:nvPr>
        </p:nvPicPr>
        <p:blipFill>
          <a:blip r:embed="rId46" cstate="print"/>
          <a:stretch>
            <a:fillRect/>
          </a:stretch>
        </p:blipFill>
        <p:spPr>
          <a:xfrm>
            <a:off x="9144000" y="252627"/>
            <a:ext cx="3122084" cy="466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5" name="Rectangle 11"/>
          <p:cNvSpPr>
            <a:spLocks noChangeArrowheads="1"/>
          </p:cNvSpPr>
          <p:nvPr userDrawn="1">
            <p:custDataLst>
              <p:tags r:id="rId47"/>
            </p:custDataLst>
          </p:nvPr>
        </p:nvSpPr>
        <p:spPr bwMode="auto">
          <a:xfrm>
            <a:off x="4165600" y="6381749"/>
            <a:ext cx="3860800" cy="47625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图片 2" descr="图片2"/>
          <p:cNvPicPr>
            <a:picLocks noChangeAspect="1"/>
          </p:cNvPicPr>
          <p:nvPr userDrawn="1">
            <p:custDataLst>
              <p:tags r:id="rId48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0" y="0"/>
            <a:ext cx="12192847" cy="6858000"/>
          </a:xfrm>
          <a:prstGeom prst="rect">
            <a:avLst/>
          </a:prstGeom>
        </p:spPr>
      </p:pic>
    </p:spTree>
    <p:custDataLst>
      <p:tags r:id="rId5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ts val="13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6385" algn="l" rtl="0" eaLnBrk="0" fontAlgn="base" hangingPunct="0">
        <a:spcBef>
          <a:spcPts val="13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ts val="13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ts val="13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75"/>
                    </a14:imgEffect>
                    <a14:imgEffect>
                      <a14:saturation sat="13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  <p:custDataLst>
              <p:tags r:id="rId5"/>
            </p:custDataLst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8309" name="Rectangle 5"/>
          <p:cNvSpPr>
            <a:spLocks noGrp="1" noChangeArrowheads="1"/>
          </p:cNvSpPr>
          <p:nvPr>
            <p:ph type="dt" sz="half" idx="2"/>
            <p:custDataLst>
              <p:tags r:id="rId6"/>
            </p:custDataLst>
          </p:nvPr>
        </p:nvSpPr>
        <p:spPr bwMode="auto">
          <a:xfrm>
            <a:off x="609600" y="6245225"/>
            <a:ext cx="2844800" cy="4762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A1D13197-A34A-4938-A3A1-C5294712463D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3"/>
            <p:custDataLst>
              <p:tags r:id="rId7"/>
            </p:custDataLst>
          </p:nvPr>
        </p:nvSpPr>
        <p:spPr bwMode="auto">
          <a:xfrm>
            <a:off x="4165600" y="6245225"/>
            <a:ext cx="3860800" cy="4762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4"/>
            <p:custDataLst>
              <p:tags r:id="rId8"/>
            </p:custDataLst>
          </p:nvPr>
        </p:nvSpPr>
        <p:spPr bwMode="auto">
          <a:xfrm>
            <a:off x="8737600" y="6245225"/>
            <a:ext cx="2844800" cy="4762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eaLnBrk="1" hangingPunct="1"/>
            <a:fld id="{9A0DB2DC-4C9A-4742-B13C-FB6460FD3503}" type="slidenum">
              <a:rPr lang="zh-CN" altLang="en-US" dirty="0">
                <a:solidFill>
                  <a:srgbClr val="000000"/>
                </a:solidFill>
              </a:rPr>
            </a:fld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1032" name="Picture 10" descr="图片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49345" y="279188"/>
            <a:ext cx="766233" cy="33813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开封市中医院 书法体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1015577" y="144041"/>
            <a:ext cx="2592916" cy="574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" name="Picture 12" descr="院训  书法体启笛幻灯顺序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9144000" y="252627"/>
            <a:ext cx="3122084" cy="466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5" name="Rectangle 11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65600" y="6381749"/>
            <a:ext cx="3860800" cy="47625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fontAlgn="base" hangingPunct="1">
              <a:defRPr/>
            </a:pPr>
            <a:endParaRPr lang="zh-CN" altLang="en-US" sz="140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ts val="13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6385" algn="l" rtl="0" eaLnBrk="0" fontAlgn="base" hangingPunct="0">
        <a:spcBef>
          <a:spcPts val="13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ts val="13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ts val="13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ts val="13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模版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8" descr="图片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06400" y="457200"/>
            <a:ext cx="984251" cy="487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12" descr="院徽副本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65807"/>
          <a:stretch>
            <a:fillRect/>
          </a:stretch>
        </p:blipFill>
        <p:spPr>
          <a:xfrm>
            <a:off x="812800" y="76200"/>
            <a:ext cx="33528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5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" Type="http://schemas.openxmlformats.org/officeDocument/2006/relationships/tags" Target="../tags/tag43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tags" Target="../tags/tag445.xml"/><Relationship Id="rId7" Type="http://schemas.openxmlformats.org/officeDocument/2006/relationships/tags" Target="../tags/tag444.xml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" Type="http://schemas.openxmlformats.org/officeDocument/2006/relationships/tags" Target="../tags/tag441.xml"/><Relationship Id="rId3" Type="http://schemas.openxmlformats.org/officeDocument/2006/relationships/tags" Target="../tags/tag440.xml"/><Relationship Id="rId2" Type="http://schemas.openxmlformats.org/officeDocument/2006/relationships/tags" Target="../tags/tag439.xml"/><Relationship Id="rId15" Type="http://schemas.openxmlformats.org/officeDocument/2006/relationships/slideLayout" Target="../slideLayouts/slideLayout47.xml"/><Relationship Id="rId14" Type="http://schemas.openxmlformats.org/officeDocument/2006/relationships/tags" Target="../tags/tag451.xml"/><Relationship Id="rId13" Type="http://schemas.openxmlformats.org/officeDocument/2006/relationships/tags" Target="../tags/tag450.xml"/><Relationship Id="rId12" Type="http://schemas.openxmlformats.org/officeDocument/2006/relationships/tags" Target="../tags/tag449.xml"/><Relationship Id="rId11" Type="http://schemas.openxmlformats.org/officeDocument/2006/relationships/tags" Target="../tags/tag448.xml"/><Relationship Id="rId10" Type="http://schemas.openxmlformats.org/officeDocument/2006/relationships/tags" Target="../tags/tag447.xml"/><Relationship Id="rId1" Type="http://schemas.openxmlformats.org/officeDocument/2006/relationships/tags" Target="../tags/tag43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453.xml"/><Relationship Id="rId1" Type="http://schemas.openxmlformats.org/officeDocument/2006/relationships/tags" Target="../tags/tag45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tags" Target="../tags/tag460.xml"/><Relationship Id="rId7" Type="http://schemas.openxmlformats.org/officeDocument/2006/relationships/tags" Target="../tags/tag459.xml"/><Relationship Id="rId6" Type="http://schemas.openxmlformats.org/officeDocument/2006/relationships/tags" Target="../tags/tag458.xml"/><Relationship Id="rId5" Type="http://schemas.openxmlformats.org/officeDocument/2006/relationships/tags" Target="../tags/tag457.xml"/><Relationship Id="rId4" Type="http://schemas.openxmlformats.org/officeDocument/2006/relationships/tags" Target="../tags/tag456.xml"/><Relationship Id="rId3" Type="http://schemas.openxmlformats.org/officeDocument/2006/relationships/tags" Target="../tags/tag455.xml"/><Relationship Id="rId2" Type="http://schemas.openxmlformats.org/officeDocument/2006/relationships/image" Target="../media/image11.jpeg"/><Relationship Id="rId1" Type="http://schemas.openxmlformats.org/officeDocument/2006/relationships/tags" Target="../tags/tag45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2.xml"/><Relationship Id="rId6" Type="http://schemas.openxmlformats.org/officeDocument/2006/relationships/tags" Target="../tags/tag465.xml"/><Relationship Id="rId5" Type="http://schemas.openxmlformats.org/officeDocument/2006/relationships/image" Target="../media/image12.jpeg"/><Relationship Id="rId4" Type="http://schemas.openxmlformats.org/officeDocument/2006/relationships/tags" Target="../tags/tag464.xml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" Type="http://schemas.openxmlformats.org/officeDocument/2006/relationships/tags" Target="../tags/tag46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469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tags" Target="../tags/tag468.xml"/><Relationship Id="rId4" Type="http://schemas.openxmlformats.org/officeDocument/2006/relationships/tags" Target="../tags/tag467.xml"/><Relationship Id="rId31" Type="http://schemas.openxmlformats.org/officeDocument/2006/relationships/slideLayout" Target="../slideLayouts/slideLayout52.xml"/><Relationship Id="rId30" Type="http://schemas.openxmlformats.org/officeDocument/2006/relationships/tags" Target="../tags/tag480.xml"/><Relationship Id="rId3" Type="http://schemas.openxmlformats.org/officeDocument/2006/relationships/image" Target="../media/image14.svg"/><Relationship Id="rId29" Type="http://schemas.openxmlformats.org/officeDocument/2006/relationships/tags" Target="../tags/tag479.xml"/><Relationship Id="rId28" Type="http://schemas.openxmlformats.org/officeDocument/2006/relationships/image" Target="../media/image27.png"/><Relationship Id="rId27" Type="http://schemas.openxmlformats.org/officeDocument/2006/relationships/tags" Target="../tags/tag478.xml"/><Relationship Id="rId26" Type="http://schemas.openxmlformats.org/officeDocument/2006/relationships/tags" Target="../tags/tag477.xml"/><Relationship Id="rId25" Type="http://schemas.openxmlformats.org/officeDocument/2006/relationships/tags" Target="../tags/tag476.xml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tags" Target="../tags/tag475.xml"/><Relationship Id="rId21" Type="http://schemas.openxmlformats.org/officeDocument/2006/relationships/tags" Target="../tags/tag474.xml"/><Relationship Id="rId20" Type="http://schemas.openxmlformats.org/officeDocument/2006/relationships/tags" Target="../tags/tag473.xml"/><Relationship Id="rId2" Type="http://schemas.openxmlformats.org/officeDocument/2006/relationships/image" Target="../media/image13.png"/><Relationship Id="rId19" Type="http://schemas.openxmlformats.org/officeDocument/2006/relationships/image" Target="../media/image24.svg"/><Relationship Id="rId18" Type="http://schemas.openxmlformats.org/officeDocument/2006/relationships/image" Target="../media/image23.png"/><Relationship Id="rId17" Type="http://schemas.openxmlformats.org/officeDocument/2006/relationships/tags" Target="../tags/tag472.xml"/><Relationship Id="rId16" Type="http://schemas.openxmlformats.org/officeDocument/2006/relationships/image" Target="../media/image22.svg"/><Relationship Id="rId15" Type="http://schemas.openxmlformats.org/officeDocument/2006/relationships/image" Target="../media/image21.png"/><Relationship Id="rId14" Type="http://schemas.openxmlformats.org/officeDocument/2006/relationships/tags" Target="../tags/tag471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tags" Target="../tags/tag470.xml"/><Relationship Id="rId10" Type="http://schemas.openxmlformats.org/officeDocument/2006/relationships/image" Target="../media/image18.svg"/><Relationship Id="rId1" Type="http://schemas.openxmlformats.org/officeDocument/2006/relationships/tags" Target="../tags/tag46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87.xml"/><Relationship Id="rId8" Type="http://schemas.openxmlformats.org/officeDocument/2006/relationships/image" Target="../media/image29.jpeg"/><Relationship Id="rId7" Type="http://schemas.openxmlformats.org/officeDocument/2006/relationships/tags" Target="../tags/tag486.xml"/><Relationship Id="rId6" Type="http://schemas.openxmlformats.org/officeDocument/2006/relationships/tags" Target="../tags/tag485.xml"/><Relationship Id="rId5" Type="http://schemas.openxmlformats.org/officeDocument/2006/relationships/tags" Target="../tags/tag484.xml"/><Relationship Id="rId4" Type="http://schemas.openxmlformats.org/officeDocument/2006/relationships/image" Target="../media/image28.jpeg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1" Type="http://schemas.openxmlformats.org/officeDocument/2006/relationships/slideLayout" Target="../slideLayouts/slideLayout52.xml"/><Relationship Id="rId10" Type="http://schemas.openxmlformats.org/officeDocument/2006/relationships/tags" Target="../tags/tag488.xml"/><Relationship Id="rId1" Type="http://schemas.openxmlformats.org/officeDocument/2006/relationships/tags" Target="../tags/tag48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tags" Target="../tags/tag494.xml"/><Relationship Id="rId7" Type="http://schemas.openxmlformats.org/officeDocument/2006/relationships/tags" Target="../tags/tag493.xml"/><Relationship Id="rId6" Type="http://schemas.openxmlformats.org/officeDocument/2006/relationships/tags" Target="../tags/tag492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3" Type="http://schemas.openxmlformats.org/officeDocument/2006/relationships/slideLayout" Target="../slideLayouts/slideLayout52.xml"/><Relationship Id="rId12" Type="http://schemas.openxmlformats.org/officeDocument/2006/relationships/tags" Target="../tags/tag496.xml"/><Relationship Id="rId11" Type="http://schemas.openxmlformats.org/officeDocument/2006/relationships/tags" Target="../tags/tag495.xml"/><Relationship Id="rId10" Type="http://schemas.openxmlformats.org/officeDocument/2006/relationships/image" Target="../media/image33.svg"/><Relationship Id="rId1" Type="http://schemas.openxmlformats.org/officeDocument/2006/relationships/tags" Target="../tags/tag48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49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2.xml"/><Relationship Id="rId4" Type="http://schemas.openxmlformats.org/officeDocument/2006/relationships/tags" Target="../tags/tag500.xml"/><Relationship Id="rId3" Type="http://schemas.openxmlformats.org/officeDocument/2006/relationships/tags" Target="../tags/tag499.xml"/><Relationship Id="rId2" Type="http://schemas.openxmlformats.org/officeDocument/2006/relationships/image" Target="../media/image34.png"/><Relationship Id="rId1" Type="http://schemas.openxmlformats.org/officeDocument/2006/relationships/tags" Target="../tags/tag49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502.xml"/><Relationship Id="rId1" Type="http://schemas.openxmlformats.org/officeDocument/2006/relationships/tags" Target="../tags/tag50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504.xml"/><Relationship Id="rId1" Type="http://schemas.openxmlformats.org/officeDocument/2006/relationships/tags" Target="../tags/tag50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tags" Target="../tags/tag505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13.xml"/><Relationship Id="rId8" Type="http://schemas.openxmlformats.org/officeDocument/2006/relationships/tags" Target="../tags/tag512.xml"/><Relationship Id="rId7" Type="http://schemas.openxmlformats.org/officeDocument/2006/relationships/tags" Target="../tags/tag511.xml"/><Relationship Id="rId6" Type="http://schemas.openxmlformats.org/officeDocument/2006/relationships/tags" Target="../tags/tag510.xml"/><Relationship Id="rId5" Type="http://schemas.openxmlformats.org/officeDocument/2006/relationships/tags" Target="../tags/tag509.xml"/><Relationship Id="rId4" Type="http://schemas.openxmlformats.org/officeDocument/2006/relationships/tags" Target="../tags/tag508.xml"/><Relationship Id="rId3" Type="http://schemas.openxmlformats.org/officeDocument/2006/relationships/tags" Target="../tags/tag507.xml"/><Relationship Id="rId2" Type="http://schemas.openxmlformats.org/officeDocument/2006/relationships/image" Target="../media/image37.png"/><Relationship Id="rId11" Type="http://schemas.openxmlformats.org/officeDocument/2006/relationships/slideLayout" Target="../slideLayouts/slideLayout52.xml"/><Relationship Id="rId10" Type="http://schemas.openxmlformats.org/officeDocument/2006/relationships/tags" Target="../tags/tag514.xml"/><Relationship Id="rId1" Type="http://schemas.openxmlformats.org/officeDocument/2006/relationships/tags" Target="../tags/tag50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5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516.xml"/><Relationship Id="rId1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5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518.xml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519.xml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5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521.xml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5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5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tags" Target="../tags/tag5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526.xml"/><Relationship Id="rId1" Type="http://schemas.openxmlformats.org/officeDocument/2006/relationships/tags" Target="../tags/tag525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image" Target="../media/image41.svg"/><Relationship Id="rId32" Type="http://schemas.openxmlformats.org/officeDocument/2006/relationships/slideLayout" Target="../slideLayouts/slideLayout52.xml"/><Relationship Id="rId31" Type="http://schemas.openxmlformats.org/officeDocument/2006/relationships/tags" Target="../tags/tag547.xml"/><Relationship Id="rId30" Type="http://schemas.openxmlformats.org/officeDocument/2006/relationships/tags" Target="../tags/tag546.xml"/><Relationship Id="rId3" Type="http://schemas.openxmlformats.org/officeDocument/2006/relationships/image" Target="../media/image40.png"/><Relationship Id="rId29" Type="http://schemas.openxmlformats.org/officeDocument/2006/relationships/tags" Target="../tags/tag545.xml"/><Relationship Id="rId28" Type="http://schemas.openxmlformats.org/officeDocument/2006/relationships/image" Target="../media/image49.svg"/><Relationship Id="rId27" Type="http://schemas.openxmlformats.org/officeDocument/2006/relationships/tags" Target="../tags/tag544.xml"/><Relationship Id="rId26" Type="http://schemas.openxmlformats.org/officeDocument/2006/relationships/tags" Target="../tags/tag543.xml"/><Relationship Id="rId25" Type="http://schemas.openxmlformats.org/officeDocument/2006/relationships/image" Target="../media/image48.svg"/><Relationship Id="rId24" Type="http://schemas.openxmlformats.org/officeDocument/2006/relationships/tags" Target="../tags/tag542.xml"/><Relationship Id="rId23" Type="http://schemas.openxmlformats.org/officeDocument/2006/relationships/tags" Target="../tags/tag541.xml"/><Relationship Id="rId22" Type="http://schemas.openxmlformats.org/officeDocument/2006/relationships/image" Target="../media/image47.svg"/><Relationship Id="rId21" Type="http://schemas.openxmlformats.org/officeDocument/2006/relationships/tags" Target="../tags/tag540.xml"/><Relationship Id="rId20" Type="http://schemas.openxmlformats.org/officeDocument/2006/relationships/tags" Target="../tags/tag539.xml"/><Relationship Id="rId2" Type="http://schemas.openxmlformats.org/officeDocument/2006/relationships/tags" Target="../tags/tag528.xml"/><Relationship Id="rId19" Type="http://schemas.openxmlformats.org/officeDocument/2006/relationships/image" Target="../media/image46.svg"/><Relationship Id="rId18" Type="http://schemas.openxmlformats.org/officeDocument/2006/relationships/tags" Target="../tags/tag538.xml"/><Relationship Id="rId17" Type="http://schemas.openxmlformats.org/officeDocument/2006/relationships/tags" Target="../tags/tag537.xml"/><Relationship Id="rId16" Type="http://schemas.openxmlformats.org/officeDocument/2006/relationships/image" Target="../media/image45.svg"/><Relationship Id="rId15" Type="http://schemas.openxmlformats.org/officeDocument/2006/relationships/image" Target="../media/image44.png"/><Relationship Id="rId14" Type="http://schemas.openxmlformats.org/officeDocument/2006/relationships/tags" Target="../tags/tag536.xml"/><Relationship Id="rId13" Type="http://schemas.openxmlformats.org/officeDocument/2006/relationships/tags" Target="../tags/tag535.xml"/><Relationship Id="rId12" Type="http://schemas.openxmlformats.org/officeDocument/2006/relationships/tags" Target="../tags/tag534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tags" Target="../tags/tag52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2.xml"/><Relationship Id="rId3" Type="http://schemas.openxmlformats.org/officeDocument/2006/relationships/tags" Target="../tags/tag548.xml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554.xml"/><Relationship Id="rId8" Type="http://schemas.openxmlformats.org/officeDocument/2006/relationships/tags" Target="../tags/tag553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tags" Target="../tags/tag552.xml"/><Relationship Id="rId4" Type="http://schemas.openxmlformats.org/officeDocument/2006/relationships/image" Target="../media/image52.jpeg"/><Relationship Id="rId3" Type="http://schemas.openxmlformats.org/officeDocument/2006/relationships/tags" Target="../tags/tag551.xml"/><Relationship Id="rId25" Type="http://schemas.openxmlformats.org/officeDocument/2006/relationships/slideLayout" Target="../slideLayouts/slideLayout52.xml"/><Relationship Id="rId24" Type="http://schemas.openxmlformats.org/officeDocument/2006/relationships/tags" Target="../tags/tag562.xml"/><Relationship Id="rId23" Type="http://schemas.openxmlformats.org/officeDocument/2006/relationships/tags" Target="../tags/tag561.xml"/><Relationship Id="rId22" Type="http://schemas.openxmlformats.org/officeDocument/2006/relationships/image" Target="../media/image61.jpeg"/><Relationship Id="rId21" Type="http://schemas.openxmlformats.org/officeDocument/2006/relationships/tags" Target="../tags/tag560.xml"/><Relationship Id="rId20" Type="http://schemas.openxmlformats.org/officeDocument/2006/relationships/tags" Target="../tags/tag559.xml"/><Relationship Id="rId2" Type="http://schemas.openxmlformats.org/officeDocument/2006/relationships/tags" Target="../tags/tag550.xml"/><Relationship Id="rId19" Type="http://schemas.openxmlformats.org/officeDocument/2006/relationships/image" Target="../media/image60.svg"/><Relationship Id="rId18" Type="http://schemas.openxmlformats.org/officeDocument/2006/relationships/tags" Target="../tags/tag558.xml"/><Relationship Id="rId17" Type="http://schemas.openxmlformats.org/officeDocument/2006/relationships/image" Target="../media/image59.svg"/><Relationship Id="rId16" Type="http://schemas.openxmlformats.org/officeDocument/2006/relationships/tags" Target="../tags/tag557.xml"/><Relationship Id="rId15" Type="http://schemas.openxmlformats.org/officeDocument/2006/relationships/image" Target="../media/image58.svg"/><Relationship Id="rId14" Type="http://schemas.openxmlformats.org/officeDocument/2006/relationships/image" Target="../media/image57.png"/><Relationship Id="rId13" Type="http://schemas.openxmlformats.org/officeDocument/2006/relationships/tags" Target="../tags/tag556.xml"/><Relationship Id="rId12" Type="http://schemas.openxmlformats.org/officeDocument/2006/relationships/image" Target="../media/image56.svg"/><Relationship Id="rId11" Type="http://schemas.openxmlformats.org/officeDocument/2006/relationships/image" Target="../media/image55.png"/><Relationship Id="rId10" Type="http://schemas.openxmlformats.org/officeDocument/2006/relationships/tags" Target="../tags/tag555.xml"/><Relationship Id="rId1" Type="http://schemas.openxmlformats.org/officeDocument/2006/relationships/tags" Target="../tags/tag54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tags" Target="../tags/tag565.xml"/><Relationship Id="rId3" Type="http://schemas.openxmlformats.org/officeDocument/2006/relationships/image" Target="../media/image62.jpeg"/><Relationship Id="rId22" Type="http://schemas.openxmlformats.org/officeDocument/2006/relationships/slideLayout" Target="../slideLayouts/slideLayout52.xml"/><Relationship Id="rId21" Type="http://schemas.openxmlformats.org/officeDocument/2006/relationships/tags" Target="../tags/tag574.xml"/><Relationship Id="rId20" Type="http://schemas.openxmlformats.org/officeDocument/2006/relationships/tags" Target="../tags/tag573.xml"/><Relationship Id="rId2" Type="http://schemas.openxmlformats.org/officeDocument/2006/relationships/tags" Target="../tags/tag564.xml"/><Relationship Id="rId19" Type="http://schemas.openxmlformats.org/officeDocument/2006/relationships/image" Target="../media/image70.svg"/><Relationship Id="rId18" Type="http://schemas.openxmlformats.org/officeDocument/2006/relationships/image" Target="../media/image69.png"/><Relationship Id="rId17" Type="http://schemas.openxmlformats.org/officeDocument/2006/relationships/tags" Target="../tags/tag572.xml"/><Relationship Id="rId16" Type="http://schemas.openxmlformats.org/officeDocument/2006/relationships/tags" Target="../tags/tag571.xml"/><Relationship Id="rId15" Type="http://schemas.openxmlformats.org/officeDocument/2006/relationships/image" Target="../media/image68.svg"/><Relationship Id="rId14" Type="http://schemas.openxmlformats.org/officeDocument/2006/relationships/image" Target="../media/image67.png"/><Relationship Id="rId13" Type="http://schemas.openxmlformats.org/officeDocument/2006/relationships/tags" Target="../tags/tag570.xml"/><Relationship Id="rId12" Type="http://schemas.openxmlformats.org/officeDocument/2006/relationships/tags" Target="../tags/tag569.xml"/><Relationship Id="rId11" Type="http://schemas.openxmlformats.org/officeDocument/2006/relationships/image" Target="../media/image66.svg"/><Relationship Id="rId10" Type="http://schemas.openxmlformats.org/officeDocument/2006/relationships/image" Target="../media/image65.png"/><Relationship Id="rId1" Type="http://schemas.openxmlformats.org/officeDocument/2006/relationships/tags" Target="../tags/tag56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tags" Target="../tags/tag579.xml"/><Relationship Id="rId7" Type="http://schemas.openxmlformats.org/officeDocument/2006/relationships/tags" Target="../tags/tag578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tags" Target="../tags/tag577.xml"/><Relationship Id="rId3" Type="http://schemas.openxmlformats.org/officeDocument/2006/relationships/image" Target="../media/image71.jpeg"/><Relationship Id="rId22" Type="http://schemas.openxmlformats.org/officeDocument/2006/relationships/slideLayout" Target="../slideLayouts/slideLayout52.xml"/><Relationship Id="rId21" Type="http://schemas.openxmlformats.org/officeDocument/2006/relationships/tags" Target="../tags/tag584.xml"/><Relationship Id="rId20" Type="http://schemas.openxmlformats.org/officeDocument/2006/relationships/tags" Target="../tags/tag583.xml"/><Relationship Id="rId2" Type="http://schemas.openxmlformats.org/officeDocument/2006/relationships/tags" Target="../tags/tag576.xml"/><Relationship Id="rId19" Type="http://schemas.openxmlformats.org/officeDocument/2006/relationships/image" Target="../media/image81.svg"/><Relationship Id="rId18" Type="http://schemas.openxmlformats.org/officeDocument/2006/relationships/image" Target="../media/image80.png"/><Relationship Id="rId17" Type="http://schemas.openxmlformats.org/officeDocument/2006/relationships/tags" Target="../tags/tag582.xml"/><Relationship Id="rId16" Type="http://schemas.openxmlformats.org/officeDocument/2006/relationships/image" Target="../media/image79.svg"/><Relationship Id="rId15" Type="http://schemas.openxmlformats.org/officeDocument/2006/relationships/image" Target="../media/image78.png"/><Relationship Id="rId14" Type="http://schemas.openxmlformats.org/officeDocument/2006/relationships/tags" Target="../tags/tag581.xml"/><Relationship Id="rId13" Type="http://schemas.openxmlformats.org/officeDocument/2006/relationships/image" Target="../media/image77.svg"/><Relationship Id="rId12" Type="http://schemas.openxmlformats.org/officeDocument/2006/relationships/image" Target="../media/image76.png"/><Relationship Id="rId11" Type="http://schemas.openxmlformats.org/officeDocument/2006/relationships/tags" Target="../tags/tag580.xml"/><Relationship Id="rId10" Type="http://schemas.openxmlformats.org/officeDocument/2006/relationships/image" Target="../media/image75.svg"/><Relationship Id="rId1" Type="http://schemas.openxmlformats.org/officeDocument/2006/relationships/tags" Target="../tags/tag575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590.xml"/><Relationship Id="rId8" Type="http://schemas.openxmlformats.org/officeDocument/2006/relationships/tags" Target="../tags/tag589.xml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tags" Target="../tags/tag588.xml"/><Relationship Id="rId4" Type="http://schemas.openxmlformats.org/officeDocument/2006/relationships/image" Target="../media/image82.png"/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8" Type="http://schemas.openxmlformats.org/officeDocument/2006/relationships/slideLayout" Target="../slideLayouts/slideLayout48.xml"/><Relationship Id="rId17" Type="http://schemas.openxmlformats.org/officeDocument/2006/relationships/tags" Target="../tags/tag596.xml"/><Relationship Id="rId16" Type="http://schemas.openxmlformats.org/officeDocument/2006/relationships/tags" Target="../tags/tag595.xml"/><Relationship Id="rId15" Type="http://schemas.openxmlformats.org/officeDocument/2006/relationships/tags" Target="../tags/tag594.xml"/><Relationship Id="rId14" Type="http://schemas.openxmlformats.org/officeDocument/2006/relationships/tags" Target="../tags/tag593.xml"/><Relationship Id="rId13" Type="http://schemas.openxmlformats.org/officeDocument/2006/relationships/image" Target="../media/image86.svg"/><Relationship Id="rId12" Type="http://schemas.openxmlformats.org/officeDocument/2006/relationships/image" Target="../media/image85.png"/><Relationship Id="rId11" Type="http://schemas.openxmlformats.org/officeDocument/2006/relationships/tags" Target="../tags/tag592.xml"/><Relationship Id="rId10" Type="http://schemas.openxmlformats.org/officeDocument/2006/relationships/tags" Target="../tags/tag591.xml"/><Relationship Id="rId1" Type="http://schemas.openxmlformats.org/officeDocument/2006/relationships/tags" Target="../tags/tag585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602.xml"/><Relationship Id="rId8" Type="http://schemas.openxmlformats.org/officeDocument/2006/relationships/image" Target="../media/image88.svg"/><Relationship Id="rId7" Type="http://schemas.openxmlformats.org/officeDocument/2006/relationships/image" Target="../media/image53.png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image" Target="../media/image87.png"/><Relationship Id="rId3" Type="http://schemas.openxmlformats.org/officeDocument/2006/relationships/tags" Target="../tags/tag599.xml"/><Relationship Id="rId21" Type="http://schemas.openxmlformats.org/officeDocument/2006/relationships/slideLayout" Target="../slideLayouts/slideLayout48.xml"/><Relationship Id="rId20" Type="http://schemas.openxmlformats.org/officeDocument/2006/relationships/tags" Target="../tags/tag609.xml"/><Relationship Id="rId2" Type="http://schemas.openxmlformats.org/officeDocument/2006/relationships/tags" Target="../tags/tag598.xml"/><Relationship Id="rId19" Type="http://schemas.openxmlformats.org/officeDocument/2006/relationships/tags" Target="../tags/tag608.xml"/><Relationship Id="rId18" Type="http://schemas.openxmlformats.org/officeDocument/2006/relationships/image" Target="../media/image91.svg"/><Relationship Id="rId17" Type="http://schemas.openxmlformats.org/officeDocument/2006/relationships/image" Target="../media/image90.png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image" Target="../media/image89.svg"/><Relationship Id="rId12" Type="http://schemas.openxmlformats.org/officeDocument/2006/relationships/image" Target="../media/image55.png"/><Relationship Id="rId11" Type="http://schemas.openxmlformats.org/officeDocument/2006/relationships/tags" Target="../tags/tag604.xml"/><Relationship Id="rId10" Type="http://schemas.openxmlformats.org/officeDocument/2006/relationships/tags" Target="../tags/tag603.xml"/><Relationship Id="rId1" Type="http://schemas.openxmlformats.org/officeDocument/2006/relationships/tags" Target="../tags/tag59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610.xml"/><Relationship Id="rId1" Type="http://schemas.openxmlformats.org/officeDocument/2006/relationships/chart" Target="../charts/char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611.xml"/><Relationship Id="rId1" Type="http://schemas.openxmlformats.org/officeDocument/2006/relationships/chart" Target="../charts/char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tags" Target="../tags/tag612.xml"/><Relationship Id="rId1" Type="http://schemas.openxmlformats.org/officeDocument/2006/relationships/chart" Target="../charts/char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614.xml"/><Relationship Id="rId1" Type="http://schemas.openxmlformats.org/officeDocument/2006/relationships/tags" Target="../tags/tag613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622.xml"/><Relationship Id="rId8" Type="http://schemas.openxmlformats.org/officeDocument/2006/relationships/image" Target="../media/image92.jpeg"/><Relationship Id="rId7" Type="http://schemas.openxmlformats.org/officeDocument/2006/relationships/tags" Target="../tags/tag621.xml"/><Relationship Id="rId6" Type="http://schemas.openxmlformats.org/officeDocument/2006/relationships/tags" Target="../tags/tag620.xml"/><Relationship Id="rId5" Type="http://schemas.openxmlformats.org/officeDocument/2006/relationships/tags" Target="../tags/tag619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1" Type="http://schemas.openxmlformats.org/officeDocument/2006/relationships/slideLayout" Target="../slideLayouts/slideLayout52.xml"/><Relationship Id="rId10" Type="http://schemas.openxmlformats.org/officeDocument/2006/relationships/tags" Target="../tags/tag623.xml"/><Relationship Id="rId1" Type="http://schemas.openxmlformats.org/officeDocument/2006/relationships/tags" Target="../tags/tag615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tags" Target="../tags/tag626.xml"/><Relationship Id="rId2" Type="http://schemas.openxmlformats.org/officeDocument/2006/relationships/tags" Target="../tags/tag625.xml"/><Relationship Id="rId12" Type="http://schemas.openxmlformats.org/officeDocument/2006/relationships/slideLayout" Target="../slideLayouts/slideLayout52.xml"/><Relationship Id="rId11" Type="http://schemas.openxmlformats.org/officeDocument/2006/relationships/tags" Target="../tags/tag634.xml"/><Relationship Id="rId10" Type="http://schemas.openxmlformats.org/officeDocument/2006/relationships/tags" Target="../tags/tag633.xml"/><Relationship Id="rId1" Type="http://schemas.openxmlformats.org/officeDocument/2006/relationships/tags" Target="../tags/tag624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641.xml"/><Relationship Id="rId8" Type="http://schemas.openxmlformats.org/officeDocument/2006/relationships/image" Target="../media/image94.jpeg"/><Relationship Id="rId7" Type="http://schemas.openxmlformats.org/officeDocument/2006/relationships/tags" Target="../tags/tag640.xml"/><Relationship Id="rId6" Type="http://schemas.openxmlformats.org/officeDocument/2006/relationships/tags" Target="../tags/tag639.xml"/><Relationship Id="rId5" Type="http://schemas.openxmlformats.org/officeDocument/2006/relationships/tags" Target="../tags/tag638.xml"/><Relationship Id="rId4" Type="http://schemas.openxmlformats.org/officeDocument/2006/relationships/image" Target="../media/image93.jpeg"/><Relationship Id="rId3" Type="http://schemas.openxmlformats.org/officeDocument/2006/relationships/tags" Target="../tags/tag637.xml"/><Relationship Id="rId2" Type="http://schemas.openxmlformats.org/officeDocument/2006/relationships/tags" Target="../tags/tag636.xml"/><Relationship Id="rId15" Type="http://schemas.openxmlformats.org/officeDocument/2006/relationships/slideLayout" Target="../slideLayouts/slideLayout52.xml"/><Relationship Id="rId14" Type="http://schemas.openxmlformats.org/officeDocument/2006/relationships/tags" Target="../tags/tag645.xml"/><Relationship Id="rId13" Type="http://schemas.openxmlformats.org/officeDocument/2006/relationships/tags" Target="../tags/tag644.xml"/><Relationship Id="rId12" Type="http://schemas.openxmlformats.org/officeDocument/2006/relationships/image" Target="../media/image95.jpeg"/><Relationship Id="rId11" Type="http://schemas.openxmlformats.org/officeDocument/2006/relationships/tags" Target="../tags/tag643.xml"/><Relationship Id="rId10" Type="http://schemas.openxmlformats.org/officeDocument/2006/relationships/tags" Target="../tags/tag642.xml"/><Relationship Id="rId1" Type="http://schemas.openxmlformats.org/officeDocument/2006/relationships/tags" Target="../tags/tag635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tags" Target="../tags/tag653.xml"/><Relationship Id="rId7" Type="http://schemas.openxmlformats.org/officeDocument/2006/relationships/tags" Target="../tags/tag652.xml"/><Relationship Id="rId6" Type="http://schemas.openxmlformats.org/officeDocument/2006/relationships/tags" Target="../tags/tag651.xml"/><Relationship Id="rId5" Type="http://schemas.openxmlformats.org/officeDocument/2006/relationships/tags" Target="../tags/tag650.xml"/><Relationship Id="rId4" Type="http://schemas.openxmlformats.org/officeDocument/2006/relationships/tags" Target="../tags/tag649.xml"/><Relationship Id="rId3" Type="http://schemas.openxmlformats.org/officeDocument/2006/relationships/tags" Target="../tags/tag648.xml"/><Relationship Id="rId2" Type="http://schemas.openxmlformats.org/officeDocument/2006/relationships/tags" Target="../tags/tag647.xml"/><Relationship Id="rId1" Type="http://schemas.openxmlformats.org/officeDocument/2006/relationships/tags" Target="../tags/tag6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655.xml"/><Relationship Id="rId1" Type="http://schemas.openxmlformats.org/officeDocument/2006/relationships/tags" Target="../tags/tag6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chart" Target="../charts/char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chart" Target="../charts/chart6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663.xml"/><Relationship Id="rId8" Type="http://schemas.openxmlformats.org/officeDocument/2006/relationships/image" Target="../media/image98.jpeg"/><Relationship Id="rId7" Type="http://schemas.openxmlformats.org/officeDocument/2006/relationships/tags" Target="../tags/tag662.xml"/><Relationship Id="rId6" Type="http://schemas.openxmlformats.org/officeDocument/2006/relationships/tags" Target="../tags/tag661.xml"/><Relationship Id="rId5" Type="http://schemas.openxmlformats.org/officeDocument/2006/relationships/tags" Target="../tags/tag660.xml"/><Relationship Id="rId4" Type="http://schemas.openxmlformats.org/officeDocument/2006/relationships/tags" Target="../tags/tag659.xml"/><Relationship Id="rId3" Type="http://schemas.openxmlformats.org/officeDocument/2006/relationships/tags" Target="../tags/tag658.xml"/><Relationship Id="rId2" Type="http://schemas.openxmlformats.org/officeDocument/2006/relationships/tags" Target="../tags/tag657.xml"/><Relationship Id="rId11" Type="http://schemas.openxmlformats.org/officeDocument/2006/relationships/slideLayout" Target="../slideLayouts/slideLayout52.xml"/><Relationship Id="rId10" Type="http://schemas.openxmlformats.org/officeDocument/2006/relationships/tags" Target="../tags/tag664.xml"/><Relationship Id="rId1" Type="http://schemas.openxmlformats.org/officeDocument/2006/relationships/tags" Target="../tags/tag656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671.xml"/><Relationship Id="rId8" Type="http://schemas.openxmlformats.org/officeDocument/2006/relationships/image" Target="../media/image100.jpeg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image" Target="../media/image99.jpeg"/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5" Type="http://schemas.openxmlformats.org/officeDocument/2006/relationships/slideLayout" Target="../slideLayouts/slideLayout52.xml"/><Relationship Id="rId14" Type="http://schemas.openxmlformats.org/officeDocument/2006/relationships/tags" Target="../tags/tag675.xml"/><Relationship Id="rId13" Type="http://schemas.openxmlformats.org/officeDocument/2006/relationships/tags" Target="../tags/tag674.xml"/><Relationship Id="rId12" Type="http://schemas.openxmlformats.org/officeDocument/2006/relationships/image" Target="../media/image101.jpeg"/><Relationship Id="rId11" Type="http://schemas.openxmlformats.org/officeDocument/2006/relationships/tags" Target="../tags/tag673.xml"/><Relationship Id="rId10" Type="http://schemas.openxmlformats.org/officeDocument/2006/relationships/tags" Target="../tags/tag672.xml"/><Relationship Id="rId1" Type="http://schemas.openxmlformats.org/officeDocument/2006/relationships/tags" Target="../tags/tag66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tags" Target="../tags/tag677.xml"/><Relationship Id="rId1" Type="http://schemas.openxmlformats.org/officeDocument/2006/relationships/tags" Target="../tags/tag6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05330" y="1649095"/>
            <a:ext cx="8869045" cy="1224915"/>
          </a:xfrm>
        </p:spPr>
        <p:txBody>
          <a:bodyPr>
            <a:normAutofit fontScale="90000"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890" b="0" spc="0" dirty="0" smtClean="0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提高脑卒中偏瘫患者良肢位摆放的正确率</a:t>
            </a:r>
            <a:endParaRPr lang="zh-CN" altLang="en-US" sz="4890" b="0" spc="0" dirty="0" smtClean="0"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>
                <a:solidFill>
                  <a:schemeClr val="tx1"/>
                </a:solidFill>
              </a:rPr>
              <a:t>脑</a:t>
            </a:r>
            <a:r>
              <a:rPr lang="en-US" altLang="zh-CN">
                <a:solidFill>
                  <a:schemeClr val="tx1"/>
                </a:solidFill>
              </a:rPr>
              <a:t>03</a:t>
            </a:r>
            <a:r>
              <a:rPr lang="zh-CN" altLang="en-US">
                <a:solidFill>
                  <a:schemeClr val="tx1"/>
                </a:solidFill>
              </a:rPr>
              <a:t>科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张忠忠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634945" y="1764846"/>
            <a:ext cx="728072" cy="728072"/>
          </a:xfrm>
          <a:prstGeom prst="octagon">
            <a:avLst>
              <a:gd name="adj" fmla="val 29287"/>
            </a:avLst>
          </a:prstGeom>
          <a:gradFill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rm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方正黑体_GBK" panose="02010600010101010101" charset="-122"/>
                <a:sym typeface="Arial" panose="020B0604020202020204" pitchFamily="34" charset="0"/>
              </a:rPr>
              <a:t>1</a:t>
            </a:r>
            <a:endParaRPr lang="zh-CN" altLang="en-US" sz="2400">
              <a:solidFill>
                <a:srgbClr val="000000"/>
              </a:solidFill>
              <a:latin typeface="Arial" panose="020B0604020202020204" pitchFamily="34" charset="0"/>
              <a:ea typeface="方正黑体_GBK" panose="02010600010101010101" charset="-122"/>
              <a:sym typeface="Arial" panose="020B0604020202020204" pitchFamily="34" charset="0"/>
            </a:endParaRPr>
          </a:p>
        </p:txBody>
      </p:sp>
      <p:sp>
        <p:nvSpPr>
          <p:cNvPr id="62" name="AutoShap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10152" y="2890747"/>
            <a:ext cx="728072" cy="728072"/>
          </a:xfrm>
          <a:prstGeom prst="octagon">
            <a:avLst>
              <a:gd name="adj" fmla="val 29287"/>
            </a:avLst>
          </a:prstGeom>
          <a:gradFill>
            <a:gsLst>
              <a:gs pos="0">
                <a:srgbClr val="BDD4F6"/>
              </a:gs>
              <a:gs pos="100000">
                <a:srgbClr val="4D8DE5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rm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方正黑体_GBK" panose="02010600010101010101" charset="-122"/>
                <a:sym typeface="Arial" panose="020B0604020202020204" pitchFamily="34" charset="0"/>
              </a:rPr>
              <a:t>4</a:t>
            </a:r>
            <a:endParaRPr lang="zh-CN" altLang="en-US" sz="2400">
              <a:solidFill>
                <a:srgbClr val="000000"/>
              </a:solidFill>
              <a:latin typeface="Arial" panose="020B0604020202020204" pitchFamily="34" charset="0"/>
              <a:ea typeface="方正黑体_GBK" panose="02010600010101010101" charset="-122"/>
              <a:sym typeface="Arial" panose="020B0604020202020204" pitchFamily="34" charset="0"/>
            </a:endParaRPr>
          </a:p>
        </p:txBody>
      </p:sp>
      <p:sp>
        <p:nvSpPr>
          <p:cNvPr id="63" name="AutoShap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10152" y="1764846"/>
            <a:ext cx="728072" cy="728072"/>
          </a:xfrm>
          <a:prstGeom prst="octagon">
            <a:avLst>
              <a:gd name="adj" fmla="val 29287"/>
            </a:avLst>
          </a:prstGeom>
          <a:solidFill>
            <a:srgbClr val="E9527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rm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FFFFFF"/>
                </a:solidFill>
                <a:latin typeface="Arial" panose="020B0604020202020204" pitchFamily="34" charset="0"/>
                <a:ea typeface="方正黑体_GBK" panose="02010600010101010101" charset="-122"/>
                <a:sym typeface="Arial" panose="020B0604020202020204" pitchFamily="34" charset="0"/>
              </a:rPr>
              <a:t>2</a:t>
            </a:r>
            <a:endParaRPr lang="zh-CN" altLang="en-US" sz="2400">
              <a:solidFill>
                <a:srgbClr val="FFFFFF"/>
              </a:solidFill>
              <a:latin typeface="Arial" panose="020B0604020202020204" pitchFamily="34" charset="0"/>
              <a:ea typeface="方正黑体_GBK" panose="02010600010101010101" charset="-122"/>
              <a:sym typeface="Arial" panose="020B0604020202020204" pitchFamily="34" charset="0"/>
            </a:endParaRPr>
          </a:p>
        </p:txBody>
      </p:sp>
      <p:sp>
        <p:nvSpPr>
          <p:cNvPr id="64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384520" y="1993714"/>
            <a:ext cx="3061278" cy="62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mtClean="0">
                <a:solidFill>
                  <a:srgbClr val="000000"/>
                </a:solidFill>
                <a:latin typeface="宋体" panose="02010600030101010101" pitchFamily="2" charset="-122"/>
                <a:cs typeface="方正黑体_GBK" panose="02010600010101010101" charset="-122"/>
              </a:rPr>
              <a:t>选题背景与意义</a:t>
            </a:r>
            <a:endParaRPr lang="zh-CN" altLang="en-US" b="1" smtClean="0">
              <a:solidFill>
                <a:srgbClr val="000000"/>
              </a:solidFill>
              <a:latin typeface="宋体" panose="02010600030101010101" pitchFamily="2" charset="-122"/>
              <a:cs typeface="方正黑体_GBK" panose="02010600010101010101" charset="-122"/>
            </a:endParaRPr>
          </a:p>
        </p:txBody>
      </p:sp>
      <p:sp>
        <p:nvSpPr>
          <p:cNvPr id="65" name="Text Box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84520" y="3125757"/>
            <a:ext cx="2353172" cy="62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normAutofit lnSpcReduction="20000"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mtClean="0">
                <a:solidFill>
                  <a:srgbClr val="000000"/>
                </a:solidFill>
                <a:latin typeface="宋体" panose="02010600030101010101" pitchFamily="2" charset="-122"/>
                <a:cs typeface="思源黑体 Regular" panose="020B0500000000000000" charset="-122"/>
                <a:sym typeface="方正黑体_GBK" panose="02010600010101010101" charset="-122"/>
              </a:rPr>
              <a:t>实施</a:t>
            </a:r>
            <a:r>
              <a:rPr lang="zh-CN" altLang="en-US" b="1" smtClean="0">
                <a:solidFill>
                  <a:srgbClr val="000000"/>
                </a:solidFill>
                <a:latin typeface="宋体" panose="02010600030101010101" pitchFamily="2" charset="-122"/>
                <a:cs typeface="思源黑体 Regular" panose="020B0500000000000000" charset="-122"/>
                <a:sym typeface="方正黑体_GBK" panose="02010600010101010101" charset="-122"/>
              </a:rPr>
              <a:t>阶段</a:t>
            </a:r>
            <a:endParaRPr lang="zh-CN" altLang="en-US" b="1" smtClean="0">
              <a:solidFill>
                <a:srgbClr val="000000"/>
              </a:solidFill>
              <a:latin typeface="宋体" panose="02010600030101010101" pitchFamily="2" charset="-122"/>
              <a:cs typeface="思源黑体 Regular" panose="020B0500000000000000" charset="-122"/>
              <a:sym typeface="方正黑体_GBK" panose="02010600010101010101" charset="-122"/>
            </a:endParaRPr>
          </a:p>
        </p:txBody>
      </p:sp>
      <p:sp>
        <p:nvSpPr>
          <p:cNvPr id="66" name="Text Box 1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536370" y="1966065"/>
            <a:ext cx="2332210" cy="62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normAutofit lnSpcReduction="20000"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mtClean="0">
                <a:solidFill>
                  <a:srgbClr val="000000"/>
                </a:solidFill>
                <a:latin typeface="宋体" panose="02010600030101010101" pitchFamily="2" charset="-122"/>
                <a:cs typeface="方正黑体_GBK" panose="02010600010101010101" charset="-122"/>
                <a:sym typeface="Arial" panose="020B0604020202020204" pitchFamily="34" charset="0"/>
              </a:rPr>
              <a:t>计划</a:t>
            </a:r>
            <a:r>
              <a:rPr lang="zh-CN" altLang="en-US" b="1" smtClean="0">
                <a:solidFill>
                  <a:srgbClr val="000000"/>
                </a:solidFill>
                <a:latin typeface="宋体" panose="02010600030101010101" pitchFamily="2" charset="-122"/>
                <a:cs typeface="方正黑体_GBK" panose="02010600010101010101" charset="-122"/>
                <a:sym typeface="Arial" panose="020B0604020202020204" pitchFamily="34" charset="0"/>
              </a:rPr>
              <a:t>阶段</a:t>
            </a:r>
            <a:endParaRPr lang="zh-CN" altLang="en-US" b="1" smtClean="0">
              <a:solidFill>
                <a:srgbClr val="000000"/>
              </a:solidFill>
              <a:latin typeface="宋体" panose="02010600030101010101" pitchFamily="2" charset="-122"/>
              <a:cs typeface="方正黑体_GBK" panose="02010600010101010101" charset="-122"/>
              <a:sym typeface="Arial" panose="020B0604020202020204" pitchFamily="34" charset="0"/>
            </a:endParaRPr>
          </a:p>
        </p:txBody>
      </p:sp>
      <p:sp>
        <p:nvSpPr>
          <p:cNvPr id="67" name="Text Box 1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536370" y="3125757"/>
            <a:ext cx="2770158" cy="62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normAutofit lnSpcReduction="20000"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品管圈护理措施及创新点</a:t>
            </a:r>
            <a:endParaRPr lang="zh-CN" altLang="en-US" b="1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8" name="AutoShape 2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34945" y="4016647"/>
            <a:ext cx="728072" cy="728072"/>
          </a:xfrm>
          <a:prstGeom prst="octagon">
            <a:avLst>
              <a:gd name="adj" fmla="val 29287"/>
            </a:avLst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rm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方正黑体_GBK" panose="02010600010101010101" charset="-122"/>
                <a:sym typeface="Arial" panose="020B0604020202020204" pitchFamily="34" charset="0"/>
              </a:rPr>
              <a:t>5</a:t>
            </a:r>
            <a:endParaRPr lang="zh-CN" altLang="en-US" sz="2400">
              <a:solidFill>
                <a:srgbClr val="000000"/>
              </a:solidFill>
              <a:latin typeface="Arial" panose="020B0604020202020204" pitchFamily="34" charset="0"/>
              <a:ea typeface="方正黑体_GBK" panose="02010600010101010101" charset="-122"/>
              <a:sym typeface="Arial" panose="020B0604020202020204" pitchFamily="34" charset="0"/>
            </a:endParaRPr>
          </a:p>
        </p:txBody>
      </p:sp>
      <p:sp>
        <p:nvSpPr>
          <p:cNvPr id="69" name="矩形 68"/>
          <p:cNvSpPr/>
          <p:nvPr>
            <p:custDataLst>
              <p:tags r:id="rId9"/>
            </p:custDataLst>
          </p:nvPr>
        </p:nvSpPr>
        <p:spPr>
          <a:xfrm>
            <a:off x="684531" y="1097915"/>
            <a:ext cx="969645" cy="3764280"/>
          </a:xfrm>
          <a:prstGeom prst="rect">
            <a:avLst/>
          </a:prstGeom>
          <a:solidFill>
            <a:srgbClr val="9BD3E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800" eaLnBrk="0" fontAlgn="base" hangingPunct="0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方正黑体_GBK" panose="02010600010101010101" charset="-122"/>
              <a:cs typeface="方正黑体_GBK" panose="02010600010101010101" charset="-122"/>
            </a:endParaRPr>
          </a:p>
        </p:txBody>
      </p:sp>
      <p:sp>
        <p:nvSpPr>
          <p:cNvPr id="70" name="矩形 69"/>
          <p:cNvSpPr/>
          <p:nvPr>
            <p:custDataLst>
              <p:tags r:id="rId10"/>
            </p:custDataLst>
          </p:nvPr>
        </p:nvSpPr>
        <p:spPr>
          <a:xfrm>
            <a:off x="1798744" y="1097915"/>
            <a:ext cx="969645" cy="3764280"/>
          </a:xfrm>
          <a:prstGeom prst="rect">
            <a:avLst/>
          </a:prstGeom>
          <a:solidFill>
            <a:srgbClr val="9BD3E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800" eaLnBrk="0" fontAlgn="base" hangingPunct="0"/>
            <a:endParaRPr lang="zh-CN" altLang="en-US" sz="1200">
              <a:solidFill>
                <a:srgbClr val="FFFFFF"/>
              </a:solidFill>
              <a:latin typeface="Arial" panose="020B0604020202020204" pitchFamily="34" charset="0"/>
              <a:ea typeface="方正黑体_GBK" panose="02010600010101010101" charset="-122"/>
              <a:cs typeface="方正黑体_GBK" panose="02010600010101010101" charset="-122"/>
            </a:endParaRPr>
          </a:p>
        </p:txBody>
      </p:sp>
      <p:sp>
        <p:nvSpPr>
          <p:cNvPr id="71" name="文本框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84530" y="2379980"/>
            <a:ext cx="1981200" cy="10172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normAutofit fontScale="7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+mn-ea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 defTabSz="685800"/>
            <a:r>
              <a:rPr lang="zh-CN" altLang="en-US" sz="8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思源黑体 Regular" panose="020B0500000000000000" charset="-122"/>
              </a:rPr>
              <a:t>目录</a:t>
            </a:r>
            <a:endParaRPr lang="zh-CN" altLang="en-US" sz="8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思源黑体 Regular" panose="020B0500000000000000" charset="-122"/>
            </a:endParaRPr>
          </a:p>
        </p:txBody>
      </p:sp>
      <p:sp>
        <p:nvSpPr>
          <p:cNvPr id="72" name="文本框 71"/>
          <p:cNvSpPr txBox="1"/>
          <p:nvPr userDrawn="1"/>
        </p:nvSpPr>
        <p:spPr>
          <a:xfrm>
            <a:off x="9982200" y="1947545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73" name="Text Box 1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448879" y="4119299"/>
            <a:ext cx="2770158" cy="62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normAutofit lnSpcReduction="20000"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效果</a:t>
            </a: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  <a:cs typeface="Arial" panose="020B0604020202020204" pitchFamily="34" charset="0"/>
              </a:rPr>
              <a:t>确认</a:t>
            </a:r>
            <a:endParaRPr lang="zh-CN" altLang="en-US" b="1" dirty="0" smtClean="0">
              <a:solidFill>
                <a:srgbClr val="000000"/>
              </a:solidFill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5" name="AutoShape 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634945" y="2954201"/>
            <a:ext cx="728072" cy="728072"/>
          </a:xfrm>
          <a:prstGeom prst="octagon">
            <a:avLst>
              <a:gd name="adj" fmla="val 29287"/>
            </a:avLst>
          </a:prstGeom>
          <a:gradFill>
            <a:gsLst>
              <a:gs pos="0">
                <a:srgbClr val="CFF9AE"/>
              </a:gs>
              <a:gs pos="90000">
                <a:srgbClr val="49E7C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rm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方正黑体_GBK" panose="02010600010101010101" charset="-122"/>
                <a:sym typeface="Arial" panose="020B0604020202020204" pitchFamily="34" charset="0"/>
              </a:rPr>
              <a:t>3</a:t>
            </a:r>
            <a:endParaRPr lang="en-US" altLang="zh-CN" sz="2400">
              <a:solidFill>
                <a:srgbClr val="000000"/>
              </a:solidFill>
              <a:latin typeface="Arial" panose="020B0604020202020204" pitchFamily="34" charset="0"/>
              <a:ea typeface="方正黑体_GBK" panose="02010600010101010101" charset="-122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43605" y="2199005"/>
            <a:ext cx="5306695" cy="1508125"/>
          </a:xfrm>
        </p:spPr>
        <p:txBody>
          <a:bodyPr>
            <a:normAutofit fontScale="90000"/>
          </a:bodyPr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489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选题背景与意义</a:t>
            </a:r>
            <a:endParaRPr lang="en-US" altLang="zh-CN" sz="489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112" r="8112"/>
          <a:stretch>
            <a:fillRect/>
          </a:stretch>
        </p:blipFill>
        <p:spPr>
          <a:xfrm>
            <a:off x="6672580" y="1045210"/>
            <a:ext cx="4826000" cy="4248785"/>
          </a:xfrm>
          <a:prstGeom prst="roundRect">
            <a:avLst>
              <a:gd name="adj" fmla="val 277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3" name="文本占位符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9415" y="4622165"/>
            <a:ext cx="5181600" cy="914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70%-80%的脑卒中患者会遗留不同程度的肢体功能障碍，严重影响生活质量。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99415" y="3943350"/>
            <a:ext cx="51816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</a:rPr>
              <a:t>患者功能障碍遗留情况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9" name="文本占位符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99415" y="2145665"/>
            <a:ext cx="5181600" cy="914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</a:rPr>
              <a:t>《中国脑卒中防治报告（2024）》显示，我国每年新发脑卒中患者超390万，发病率以每年8.7%的速度上升。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占位符 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99415" y="1586865"/>
            <a:ext cx="51816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</a:rPr>
              <a:t>我国脑卒中发病规模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57200" y="894080"/>
            <a:ext cx="495681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</a:rPr>
              <a:t>脑卒中疾病现状与危害</a:t>
            </a:r>
            <a:endParaRPr lang="zh-CN" altLang="en-US" sz="3200" b="1">
              <a:solidFill>
                <a:schemeClr val="tx1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433435" y="3931285"/>
            <a:ext cx="2978785" cy="14173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指南明确强调：</a:t>
            </a:r>
            <a:r>
              <a:rPr lang="zh-CN" altLang="en-US">
                <a:solidFill>
                  <a:schemeClr val="tx1"/>
                </a:solidFill>
              </a:rPr>
              <a:t>《中国脑卒中康复治疗指南（2021 年版）》明确强调早期良肢位摆放在脑卒中康复中的重要作用。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占位符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32800" y="2667000"/>
            <a:ext cx="2978785" cy="10750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预防并发症发生</a:t>
            </a:r>
            <a:r>
              <a:rPr lang="zh-CN" altLang="en-US">
                <a:solidFill>
                  <a:schemeClr val="tx1"/>
                </a:solidFill>
              </a:rPr>
              <a:t>：可预防肌肉萎缩、关节挛缩、肩手综合征等并发症，降低患者痛苦。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占位符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33435" y="1525905"/>
            <a:ext cx="2978785" cy="114109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维持关节功能位：</a:t>
            </a:r>
            <a:r>
              <a:rPr lang="zh-CN" altLang="en-US">
                <a:solidFill>
                  <a:schemeClr val="tx1"/>
                </a:solidFill>
              </a:rPr>
              <a:t>通过科学设计患者体位，有效维持关节功能位，为后续康复训练奠定基础。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298180" y="793750"/>
            <a:ext cx="3776980" cy="5892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</a:rPr>
              <a:t>良肢位摆放的重要性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pic>
        <p:nvPicPr>
          <p:cNvPr id="6" name="图片 5" descr="良肢位文献插图"/>
          <p:cNvPicPr>
            <a:picLocks noChangeAspect="1"/>
          </p:cNvPicPr>
          <p:nvPr/>
        </p:nvPicPr>
        <p:blipFill>
          <a:blip r:embed="rId5"/>
          <a:srcRect l="27556" t="22928" r="6402"/>
          <a:stretch>
            <a:fillRect/>
          </a:stretch>
        </p:blipFill>
        <p:spPr>
          <a:xfrm>
            <a:off x="399415" y="793115"/>
            <a:ext cx="7335520" cy="56908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19" name="AutoShape 5"/>
          <p:cNvSpPr/>
          <p:nvPr>
            <p:custDataLst>
              <p:tags r:id="rId4"/>
            </p:custDataLst>
          </p:nvPr>
        </p:nvSpPr>
        <p:spPr>
          <a:xfrm>
            <a:off x="1397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调查概况与核心发现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6"/>
          <p:cNvCxnSpPr/>
          <p:nvPr/>
        </p:nvCxnSpPr>
        <p:spPr>
          <a:xfrm rot="-9549">
            <a:off x="1016009" y="2279650"/>
            <a:ext cx="4572000" cy="12700"/>
          </a:xfrm>
          <a:prstGeom prst="line">
            <a:avLst/>
          </a:prstGeom>
          <a:solidFill>
            <a:schemeClr val="accent2">
              <a:alpha val="100000"/>
            </a:schemeClr>
          </a:solidFill>
          <a:ln w="12700" cap="flat" cmpd="sng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7"/>
          <p:cNvSpPr/>
          <p:nvPr>
            <p:custDataLst>
              <p:tags r:id="rId5"/>
            </p:custDataLst>
          </p:nvPr>
        </p:nvSpPr>
        <p:spPr>
          <a:xfrm>
            <a:off x="1016000" y="2413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本次调查覆盖80例脑卒中偏瘫患者，结果显示良肢位摆放完全正确的患者仅占30%，70%的患者存在各类护理问题。</a:t>
            </a:r>
            <a:endParaRPr lang="en-US" sz="1400" b="0" i="0" u="none" strike="noStrike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302000"/>
            <a:ext cx="304800" cy="304800"/>
          </a:xfrm>
          <a:prstGeom prst="rect">
            <a:avLst/>
          </a:prstGeom>
        </p:spPr>
      </p:pic>
      <p:sp>
        <p:nvSpPr>
          <p:cNvPr id="23" name="AutoShape 9"/>
          <p:cNvSpPr/>
          <p:nvPr>
            <p:custDataLst>
              <p:tags r:id="rId8"/>
            </p:custDataLst>
          </p:nvPr>
        </p:nvSpPr>
        <p:spPr>
          <a:xfrm>
            <a:off x="1397000" y="327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主要问题分类 (占问题总数比例)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10"/>
          <p:cNvCxnSpPr/>
          <p:nvPr/>
        </p:nvCxnSpPr>
        <p:spPr>
          <a:xfrm rot="-9549">
            <a:off x="1016009" y="3676650"/>
            <a:ext cx="4572000" cy="12700"/>
          </a:xfrm>
          <a:prstGeom prst="line">
            <a:avLst/>
          </a:prstGeom>
          <a:solidFill>
            <a:schemeClr val="accent2">
              <a:alpha val="100000"/>
            </a:schemeClr>
          </a:solidFill>
          <a:ln w="12700" cap="flat" cmpd="sng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873500"/>
            <a:ext cx="254000" cy="254000"/>
          </a:xfrm>
          <a:prstGeom prst="rect">
            <a:avLst/>
          </a:prstGeom>
        </p:spPr>
      </p:pic>
      <p:sp>
        <p:nvSpPr>
          <p:cNvPr id="26" name="AutoShape 12"/>
          <p:cNvSpPr/>
          <p:nvPr>
            <p:custDataLst>
              <p:tags r:id="rId11"/>
            </p:custDataLst>
          </p:nvPr>
        </p:nvSpPr>
        <p:spPr>
          <a:xfrm>
            <a:off x="1397000" y="3835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卧位姿势不当：40%</a:t>
            </a:r>
            <a:endParaRPr lang="en-US" sz="1600" b="0" i="0" u="none" strike="noStrike">
              <a:solidFill>
                <a:schemeClr val="tx1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4254500"/>
            <a:ext cx="254000" cy="254000"/>
          </a:xfrm>
          <a:prstGeom prst="rect">
            <a:avLst/>
          </a:prstGeom>
        </p:spPr>
      </p:pic>
      <p:sp>
        <p:nvSpPr>
          <p:cNvPr id="28" name="AutoShape 14"/>
          <p:cNvSpPr/>
          <p:nvPr>
            <p:custDataLst>
              <p:tags r:id="rId14"/>
            </p:custDataLst>
          </p:nvPr>
        </p:nvSpPr>
        <p:spPr>
          <a:xfrm>
            <a:off x="1397000" y="421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肢体支撑不合理：25%</a:t>
            </a:r>
            <a:endParaRPr lang="en-US" sz="1600" b="0" i="0" u="none" strike="noStrike">
              <a:solidFill>
                <a:schemeClr val="tx1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Picture 1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4635500"/>
            <a:ext cx="254000" cy="254000"/>
          </a:xfrm>
          <a:prstGeom prst="rect">
            <a:avLst/>
          </a:prstGeom>
        </p:spPr>
      </p:pic>
      <p:sp>
        <p:nvSpPr>
          <p:cNvPr id="30" name="AutoShape 16"/>
          <p:cNvSpPr/>
          <p:nvPr>
            <p:custDataLst>
              <p:tags r:id="rId17"/>
            </p:custDataLst>
          </p:nvPr>
        </p:nvSpPr>
        <p:spPr>
          <a:xfrm>
            <a:off x="1397000" y="459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未定时更换体位：15%</a:t>
            </a:r>
            <a:endParaRPr lang="en-US" sz="1600" b="0" i="0" u="none" strike="noStrike">
              <a:solidFill>
                <a:schemeClr val="tx1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1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5016500"/>
            <a:ext cx="254000" cy="254000"/>
          </a:xfrm>
          <a:prstGeom prst="rect">
            <a:avLst/>
          </a:prstGeom>
        </p:spPr>
      </p:pic>
      <p:sp>
        <p:nvSpPr>
          <p:cNvPr id="32" name="AutoShape 18"/>
          <p:cNvSpPr/>
          <p:nvPr>
            <p:custDataLst>
              <p:tags r:id="rId20"/>
            </p:custDataLst>
          </p:nvPr>
        </p:nvSpPr>
        <p:spPr>
          <a:xfrm>
            <a:off x="1397000" y="497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cs typeface="Noto Sans SC" panose="020B0200000000000000" charset="-122"/>
                <a:sym typeface="Noto Sans SC" panose="020B0200000000000000" charset="-122"/>
              </a:rPr>
              <a:t>其他问题：10%</a:t>
            </a:r>
            <a:endParaRPr lang="en-US" sz="1600" b="0" i="0" u="none" strike="noStrike">
              <a:solidFill>
                <a:schemeClr val="tx1"/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19"/>
          <p:cNvSpPr/>
          <p:nvPr>
            <p:custDataLst>
              <p:tags r:id="rId21"/>
            </p:custDataLst>
          </p:nvPr>
        </p:nvSpPr>
        <p:spPr>
          <a:xfrm>
            <a:off x="6096000" y="1651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34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50000" y="1905000"/>
            <a:ext cx="304800" cy="304800"/>
          </a:xfrm>
          <a:prstGeom prst="rect">
            <a:avLst/>
          </a:prstGeom>
        </p:spPr>
      </p:pic>
      <p:sp>
        <p:nvSpPr>
          <p:cNvPr id="35" name="AutoShape 21"/>
          <p:cNvSpPr/>
          <p:nvPr>
            <p:custDataLst>
              <p:tags r:id="rId25"/>
            </p:custDataLst>
          </p:nvPr>
        </p:nvSpPr>
        <p:spPr>
          <a:xfrm>
            <a:off x="6731000" y="1879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良肢位摆放情况分布 (N=80)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6" name="Connector 22"/>
          <p:cNvCxnSpPr/>
          <p:nvPr>
            <p:custDataLst>
              <p:tags r:id="rId26"/>
            </p:custDataLst>
          </p:nvPr>
        </p:nvCxnSpPr>
        <p:spPr>
          <a:xfrm rot="-9046">
            <a:off x="6350008" y="2279650"/>
            <a:ext cx="4826000" cy="12700"/>
          </a:xfrm>
          <a:prstGeom prst="line">
            <a:avLst/>
          </a:prstGeom>
          <a:solidFill>
            <a:schemeClr val="accent2">
              <a:alpha val="100000"/>
            </a:schemeClr>
          </a:solidFill>
          <a:ln w="12700" cap="flat" cmpd="sng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Picture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350000" y="2413000"/>
            <a:ext cx="4826000" cy="330200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609600" y="924560"/>
            <a:ext cx="69723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 fontScale="9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现状堪忧:良肢位摆放正确率仅为30%</a:t>
            </a:r>
            <a:endParaRPr lang="en-US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21197" y="4268270"/>
            <a:ext cx="6809549" cy="530614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20000"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通过对患者良肢位摆放情况进行观察和记录，收集相关数据，以评估良肢位摆放的正确率及存在的问题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占位符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99684" y="3812274"/>
            <a:ext cx="6809549" cy="35374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2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调查方法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占位符 17" descr="29e98577-12b3-11f1-9c96-56e39b738ed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3600" b="3600"/>
          <a:stretch>
            <a:fillRect/>
          </a:stretch>
        </p:blipFill>
        <p:spPr>
          <a:xfrm>
            <a:off x="8674540" y="3712784"/>
            <a:ext cx="2210892" cy="1923476"/>
          </a:xfrm>
          <a:custGeom>
            <a:av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avLst>
            <a:gdLst>
              <a:gd name="connisteX0-1" fmla="*/ 0 w 2540000"/>
              <a:gd name="connsiteY0-2" fmla="*/ 0 h 2209800"/>
              <a:gd name="connisteX1-3" fmla="*/ 2336800 w 2540000"/>
              <a:gd name="connsiteY1-4" fmla="*/ 0 h 2209800"/>
              <a:gd name="connisteX2-5" fmla="*/ 2540000 w 2540000"/>
              <a:gd name="connsiteY2-6" fmla="*/ 203200 h 2209800"/>
              <a:gd name="connisteX3-7" fmla="*/ 2540000 w 2540000"/>
              <a:gd name="connsiteY3-8" fmla="*/ 2006600 h 2209800"/>
              <a:gd name="connisteX4-9" fmla="*/ 2336800 w 2540000"/>
              <a:gd name="connsiteY4-10" fmla="*/ 2209800 h 2209800"/>
              <a:gd name="connisteX5-11" fmla="*/ 0 w 2540000"/>
              <a:gd name="connsiteY5-12" fmla="*/ 2209800 h 2209800"/>
              <a:gd name="connisteX6-13" fmla="*/ 0 w 2540000"/>
              <a:gd name="connsiteY6-1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 w="9525">
            <a:noFill/>
          </a:ln>
        </p:spPr>
      </p:pic>
      <p:sp>
        <p:nvSpPr>
          <p:cNvPr id="13" name="文本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99684" y="2463629"/>
            <a:ext cx="6809549" cy="530614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20000"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选取本院神经内科20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年1月-2025年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月收治的80例脑卒中偏瘫患者作为研究对象。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599684" y="1977233"/>
            <a:ext cx="6809549" cy="35374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2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调查对象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5" name="图片占位符 16" descr="29e9856f-12b3-11f1-9c96-56e39b738edf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3600" b="3600"/>
          <a:stretch>
            <a:fillRect/>
          </a:stretch>
        </p:blipFill>
        <p:spPr>
          <a:xfrm>
            <a:off x="8674540" y="1524000"/>
            <a:ext cx="2210892" cy="1923476"/>
          </a:xfrm>
          <a:custGeom>
            <a:avLst>
              <a:gd name="connisteX0" fmla="*/ 0 w 2540000"/>
              <a:gd name="connsiteY0" fmla="*/ 0 h 2209800"/>
              <a:gd name="connisteX1" fmla="*/ 2336800 w 2540000"/>
              <a:gd name="connsiteY1" fmla="*/ 0 h 2209800"/>
              <a:gd name="connisteX2" fmla="*/ 2540000 w 2540000"/>
              <a:gd name="connsiteY2" fmla="*/ 203200 h 2209800"/>
              <a:gd name="connisteX3" fmla="*/ 2540000 w 2540000"/>
              <a:gd name="connsiteY3" fmla="*/ 2006600 h 2209800"/>
              <a:gd name="connisteX4" fmla="*/ 2336800 w 2540000"/>
              <a:gd name="connsiteY4" fmla="*/ 2209800 h 2209800"/>
              <a:gd name="connisteX5" fmla="*/ 0 w 2540000"/>
              <a:gd name="connsiteY5" fmla="*/ 2209800 h 2209800"/>
              <a:gd name="connisteX6" fmla="*/ 0 w 2540000"/>
              <a:gd name="connsiteY6" fmla="*/ 0 h 2209800"/>
            </a:avLst>
            <a:gdLst>
              <a:gd name="connisteX0-1" fmla="*/ 0 w 2540000"/>
              <a:gd name="connsiteY0-2" fmla="*/ 0 h 2209800"/>
              <a:gd name="connisteX1-3" fmla="*/ 2336800 w 2540000"/>
              <a:gd name="connsiteY1-4" fmla="*/ 0 h 2209800"/>
              <a:gd name="connisteX2-5" fmla="*/ 2540000 w 2540000"/>
              <a:gd name="connsiteY2-6" fmla="*/ 203200 h 2209800"/>
              <a:gd name="connisteX3-7" fmla="*/ 2540000 w 2540000"/>
              <a:gd name="connsiteY3-8" fmla="*/ 2006600 h 2209800"/>
              <a:gd name="connisteX4-9" fmla="*/ 2336800 w 2540000"/>
              <a:gd name="connsiteY4-10" fmla="*/ 2209800 h 2209800"/>
              <a:gd name="connisteX5-11" fmla="*/ 0 w 2540000"/>
              <a:gd name="connsiteY5-12" fmla="*/ 2209800 h 2209800"/>
              <a:gd name="connisteX6-13" fmla="*/ 0 w 2540000"/>
              <a:gd name="connsiteY6-14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</a:cxnLst>
            <a:pathLst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  <a:path w="2540000" h="2209800">
                <a:moveTo>
                  <a:pt x="0" y="0"/>
                </a:moveTo>
                <a:lnTo>
                  <a:pt x="2336800" y="0"/>
                </a:lnTo>
                <a:cubicBezTo>
                  <a:pt x="2449024" y="0"/>
                  <a:pt x="2540000" y="90976"/>
                  <a:pt x="2540000" y="203200"/>
                </a:cubicBezTo>
                <a:lnTo>
                  <a:pt x="2540000" y="2006600"/>
                </a:lnTo>
                <a:cubicBezTo>
                  <a:pt x="2540000" y="2118824"/>
                  <a:pt x="2449024" y="2209800"/>
                  <a:pt x="233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 w="9525">
            <a:noFill/>
          </a:ln>
        </p:spPr>
      </p:pic>
      <p:sp>
        <p:nvSpPr>
          <p:cNvPr id="19" name="标题 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824230"/>
            <a:ext cx="3583940" cy="57023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调查对象与方法</a:t>
            </a:r>
            <a:endParaRPr lang="zh-CN" altLang="en-US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9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428875" y="4782185"/>
            <a:ext cx="88392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卧位姿势不当的患者占40%，主要表现为患侧肢体未保持功能位；肢体支撑不合理的患者占25%，如肩部、足部缺乏有效支撑；未按要求定时更换体位的患者占15%。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占位符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28875" y="4274185"/>
            <a:ext cx="88392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具体问题占比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片占位符 11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3942715"/>
            <a:ext cx="1219200" cy="1219200"/>
          </a:xfrm>
          <a:prstGeom prst="rect">
            <a:avLst/>
          </a:prstGeom>
          <a:noFill/>
        </p:spPr>
      </p:pic>
      <p:sp>
        <p:nvSpPr>
          <p:cNvPr id="15" name="文本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428875" y="2267585"/>
            <a:ext cx="88392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良肢位摆放完全正确的患者仅占30%，存在各种问题的患者占比高达70%。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文本占位符 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428875" y="1759585"/>
            <a:ext cx="88392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总体正确率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" name="图片占位符 10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1657985"/>
            <a:ext cx="1219200" cy="1219200"/>
          </a:xfrm>
          <a:prstGeom prst="rect">
            <a:avLst/>
          </a:prstGeom>
          <a:noFill/>
        </p:spPr>
      </p:pic>
      <p:sp>
        <p:nvSpPr>
          <p:cNvPr id="19" name="标题 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824230"/>
            <a:ext cx="4737100" cy="59944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良肢位摆放现状</a:t>
            </a:r>
            <a:endParaRPr lang="zh-CN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/>
        </p:nvSpPr>
        <p:spPr>
          <a:xfrm>
            <a:off x="1945005" y="1333488"/>
            <a:ext cx="8229600" cy="373738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1800" dirty="0" smtClean="0"/>
              <a:t>对象</a:t>
            </a:r>
            <a:r>
              <a:rPr lang="en-US" altLang="zh-CN" sz="1800" dirty="0" smtClean="0"/>
              <a:t>:</a:t>
            </a:r>
            <a:r>
              <a:rPr lang="zh-CN" altLang="zh-CN" sz="1800" dirty="0" smtClean="0"/>
              <a:t>脑卒中偏瘫</a:t>
            </a:r>
            <a:r>
              <a:rPr lang="zh-CN" altLang="en-US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患者</a:t>
            </a:r>
            <a:endParaRPr lang="en-US" altLang="zh-CN" sz="1800" dirty="0" smtClean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时间：</a:t>
            </a:r>
            <a:r>
              <a:rPr lang="en-US" altLang="zh-CN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2025</a:t>
            </a:r>
            <a:r>
              <a:rPr lang="zh-CN" altLang="en-US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en-US" altLang="zh-CN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——2025</a:t>
            </a:r>
            <a:r>
              <a:rPr lang="zh-CN" altLang="en-US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月</a:t>
            </a:r>
            <a:endParaRPr lang="en-US" altLang="zh-CN" sz="1800" dirty="0" smtClean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sz="1800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方法：数据收集期间，总调查</a:t>
            </a:r>
            <a:r>
              <a:rPr lang="zh-CN" altLang="en-US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神经内科脑卒中偏瘫患者</a:t>
            </a:r>
            <a:r>
              <a:rPr lang="en-US" altLang="zh-CN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80</a:t>
            </a:r>
            <a:r>
              <a:rPr lang="zh-CN" altLang="en-US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例，其中良肢位摆放达标</a:t>
            </a:r>
            <a:r>
              <a:rPr lang="en-US" altLang="zh-CN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48</a:t>
            </a:r>
            <a:r>
              <a:rPr lang="zh-CN" altLang="en-US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例，现状值为</a:t>
            </a:r>
            <a:r>
              <a:rPr lang="en-US" altLang="zh-CN" sz="1800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57.14%</a:t>
            </a:r>
            <a:endParaRPr lang="en-US" altLang="zh-CN" sz="1800" dirty="0" smtClean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202153" y="2690810"/>
          <a:ext cx="7786741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7600"/>
                <a:gridCol w="1415771"/>
                <a:gridCol w="1946685"/>
                <a:gridCol w="1946685"/>
              </a:tblGrid>
              <a:tr h="272328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神经内科吞咽障碍患者进食未达标原因查检汇总表</a:t>
                      </a:r>
                      <a:endParaRPr lang="zh-CN" altLang="en-US" dirty="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缺陷</a:t>
                      </a:r>
                      <a:r>
                        <a:rPr lang="zh-CN" altLang="en-US" dirty="0" smtClean="0">
                          <a:cs typeface="Arial" panose="020B0604020202020204" pitchFamily="34" charset="0"/>
                        </a:rPr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例数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百分比（</a:t>
                      </a:r>
                      <a:r>
                        <a:rPr lang="en-US" altLang="zh-CN" dirty="0" smtClean="0"/>
                        <a:t>%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累计百分比（</a:t>
                      </a:r>
                      <a:r>
                        <a:rPr lang="en-US" altLang="zh-CN" dirty="0" smtClean="0"/>
                        <a:t>%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缺乏安良肢位摆放相关知识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34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dirty="0" smtClean="0">
                          <a:cs typeface="Arial" panose="020B0604020202020204" pitchFamily="34" charset="0"/>
                        </a:rPr>
                        <a:t>1.25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31.25</a:t>
                      </a:r>
                      <a:endParaRPr lang="zh-CN" altLang="en-US" dirty="0"/>
                    </a:p>
                  </a:txBody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动态评估良肢位摆放必要性不到位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25.00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56.25</a:t>
                      </a:r>
                      <a:endParaRPr lang="zh-CN" altLang="en-US" dirty="0"/>
                    </a:p>
                  </a:txBody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对良肢位摆放不重视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18.75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r>
                        <a:rPr lang="en-US" altLang="zh-CN" dirty="0" smtClean="0">
                          <a:cs typeface="Arial" panose="020B0604020202020204" pitchFamily="34" charset="0"/>
                        </a:rPr>
                        <a:t>5</a:t>
                      </a:r>
                      <a:endParaRPr lang="zh-CN" altLang="en-US" dirty="0"/>
                    </a:p>
                  </a:txBody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家属依从性低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87.50</a:t>
                      </a:r>
                      <a:endParaRPr lang="zh-CN" altLang="en-US" dirty="0"/>
                    </a:p>
                  </a:txBody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环境因素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93.75</a:t>
                      </a:r>
                      <a:endParaRPr lang="zh-CN" altLang="en-US" dirty="0"/>
                    </a:p>
                  </a:txBody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其他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/>
                </a:tc>
              </a:tr>
              <a:tr h="26552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合计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56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/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5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8765" y="1782445"/>
            <a:ext cx="11523980" cy="42500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29260" y="1023620"/>
            <a:ext cx="11153140" cy="6280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通过鱼骨图和头脑风暴法，对良肢位摆放正确率低的原因进行深入分析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计划</a:t>
            </a:r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</a:t>
            </a:r>
            <a:endParaRPr lang="zh-CN" altLang="en-US" sz="4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77290" y="2662555"/>
          <a:ext cx="987488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735"/>
                <a:gridCol w="1282065"/>
                <a:gridCol w="1619885"/>
                <a:gridCol w="1647825"/>
                <a:gridCol w="1703070"/>
                <a:gridCol w="2821305"/>
              </a:tblGrid>
              <a:tr h="344805">
                <a:tc gridSpan="2"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成立日期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2025</a:t>
                      </a:r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年</a:t>
                      </a:r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6</a:t>
                      </a:r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月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组员人数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4</a:t>
                      </a:r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人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组长：张扬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序号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姓名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现层级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晋升层级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组内工作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534035"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1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于东梅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N3A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N3B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组织策划，</a:t>
                      </a:r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PPT</a:t>
                      </a:r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制作，数据收集，资料整理，组织实施，协调分工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2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韩蕊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N2B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N2C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会议记录，采集照片，记录，查找对策，检查督促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423545"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3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李</a:t>
                      </a:r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晶晶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N2A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N2B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资料整理，协调配合，原因分析，效果检查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4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孙瑶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N1B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N1C</a:t>
                      </a:r>
                      <a:endParaRPr lang="en-US" altLang="zh-CN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200" b="1" dirty="0" smtClean="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收集资料，组织实施</a:t>
                      </a:r>
                      <a:endParaRPr lang="zh-CN" altLang="en-US" sz="1200" b="1" dirty="0" smtClean="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 userDrawn="1"/>
        </p:nvSpPr>
        <p:spPr>
          <a:xfrm>
            <a:off x="2277840" y="1366660"/>
            <a:ext cx="2985770" cy="52197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成立小组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06103" y="1870079"/>
            <a:ext cx="73152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成立时间：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2025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年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6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月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           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成员人数：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人</a:t>
            </a:r>
            <a:endParaRPr lang="zh-CN" altLang="en-US" sz="1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主题：</a:t>
            </a:r>
            <a:r>
              <a:rPr lang="zh-CN" sz="1400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提高</a:t>
            </a:r>
            <a:r>
              <a:rPr lang="zh-CN" altLang="en-US" sz="1400" dirty="0" smtClean="0">
                <a:latin typeface="仿宋" panose="02010609060101010101" charset="-122"/>
                <a:ea typeface="仿宋" panose="02010609060101010101" charset="-122"/>
                <a:sym typeface="+mn-ea"/>
              </a:rPr>
              <a:t>神经内科吞咽困难患者进食安全率</a:t>
            </a:r>
            <a:endParaRPr lang="zh-CN" altLang="en-US" sz="1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活动期限：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2025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年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6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月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——2025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年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12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月</a:t>
            </a:r>
            <a:endParaRPr lang="zh-CN" altLang="en-US" sz="1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1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3098828" y="3771893"/>
          <a:ext cx="5194300" cy="1333500"/>
        </p:xfrm>
        <a:graphic>
          <a:graphicData uri="http://schemas.openxmlformats.org/drawingml/2006/table">
            <a:tbl>
              <a:tblPr/>
              <a:tblGrid>
                <a:gridCol w="876300"/>
                <a:gridCol w="1079500"/>
                <a:gridCol w="1079500"/>
                <a:gridCol w="1079500"/>
                <a:gridCol w="1079500"/>
              </a:tblGrid>
              <a:tr h="6578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1">
                          <a:solidFill>
                            <a:srgbClr val="40404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圈能力</a:t>
                      </a:r>
                      <a:endParaRPr lang="zh-CN" altLang="en-US" sz="1800" b="1">
                        <a:solidFill>
                          <a:srgbClr val="40404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于东梅</a:t>
                      </a:r>
                      <a:endParaRPr lang="zh-CN" altLang="en-US" sz="1800" b="1">
                        <a:solidFill>
                          <a:srgbClr val="40404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韩蕊</a:t>
                      </a:r>
                      <a:endParaRPr lang="zh-CN" altLang="en-US" sz="1800" b="1">
                        <a:solidFill>
                          <a:srgbClr val="40404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李晶晶</a:t>
                      </a:r>
                      <a:endParaRPr lang="zh-CN" altLang="en-US" sz="1800" b="1">
                        <a:solidFill>
                          <a:srgbClr val="40404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孙瑶</a:t>
                      </a:r>
                      <a:endParaRPr lang="zh-CN" altLang="en-US" sz="1800" b="1">
                        <a:solidFill>
                          <a:srgbClr val="40404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</a:tr>
              <a:tr h="675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能力值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5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3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3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3</a:t>
                      </a:r>
                      <a:endParaRPr lang="en-US" altLang="en-US" sz="180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pic>
        <p:nvPicPr>
          <p:cNvPr id="5" name="图片 4" descr="post_object_image_2619826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955800"/>
            <a:ext cx="6400800" cy="1709972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8293135" y="3771879"/>
          <a:ext cx="1206500" cy="1333500"/>
        </p:xfrm>
        <a:graphic>
          <a:graphicData uri="http://schemas.openxmlformats.org/drawingml/2006/table">
            <a:tbl>
              <a:tblPr/>
              <a:tblGrid>
                <a:gridCol w="1206500"/>
              </a:tblGrid>
              <a:tr h="6667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1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合计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</a:tr>
              <a:tr h="6667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仿宋" panose="02010609060101010101" charset="-122"/>
                          <a:ea typeface="仿宋" panose="02010609060101010101" charset="-122"/>
                        </a:rPr>
                        <a:t>14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仿宋" panose="02010609060101010101" charset="-122"/>
                        <a:ea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 descr="post_object_image_2134878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091" y="3069182"/>
            <a:ext cx="4911487" cy="638311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4671060" y="3224530"/>
            <a:ext cx="4224020" cy="44132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14/4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=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3.5      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小组能力=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3.5/5×100%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=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70%</a:t>
            </a:r>
            <a:endParaRPr lang="zh-CN" altLang="en-US" sz="16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6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2785" y="2886710"/>
            <a:ext cx="10775950" cy="30689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占位符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31200" y="1827530"/>
            <a:ext cx="3251200" cy="10591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通过头脑风暴充分讨论，对评分结果进行集体复核，确保选定对策符合项目目标且具备可操作性，为后续实施奠定基础。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占位符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31200" y="1268730"/>
            <a:ext cx="3251200" cy="35623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fontScale="90000" lnSpcReduction="1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集体决策与共识达成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70400" y="1827530"/>
            <a:ext cx="3251200" cy="10591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10000"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由10名圈员独立打分，总分为各项目得分总和（最高150分），依据二八法则，将总分≥120分的对策判定为优先实施项，确保对策高效落地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70400" y="1268730"/>
            <a:ext cx="3251200" cy="35623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fontScale="90000" lnSpcReduction="1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评分流程与判定标准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占位符 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1827530"/>
            <a:ext cx="3251200" cy="105918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10000"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全体圈员从可行性（操作难易度）、经济性（成本投入）、圈能力（团队执行水平）三个维度进行评价，采用5分（优）、3分（可）、1分（差）打分制</a:t>
            </a:r>
            <a:r>
              <a:rPr lang="zh-CN" altLang="en-US" sz="1400">
                <a:solidFill>
                  <a:schemeClr val="tx1"/>
                </a:solidFill>
              </a:rPr>
              <a:t>。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4" name="文本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1268730"/>
            <a:ext cx="3251200" cy="35623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fontScale="90000" lnSpcReduction="1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评价项目与标准设定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92785" y="759460"/>
            <a:ext cx="4617085" cy="50927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 lnSpcReduction="1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对策选定方法</a:t>
            </a:r>
            <a:endParaRPr lang="zh-CN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/>
        </p:nvGraphicFramePr>
        <p:xfrm>
          <a:off x="3479765" y="993971"/>
          <a:ext cx="6768465" cy="2327910"/>
        </p:xfrm>
        <a:graphic>
          <a:graphicData uri="http://schemas.openxmlformats.org/drawingml/2006/table">
            <a:tbl>
              <a:tblPr/>
              <a:tblGrid>
                <a:gridCol w="2159635"/>
                <a:gridCol w="908691"/>
                <a:gridCol w="733833"/>
                <a:gridCol w="751426"/>
                <a:gridCol w="903605"/>
                <a:gridCol w="1311275"/>
              </a:tblGrid>
              <a:tr h="3657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评价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项目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gridSpan="5">
                  <a:txBody>
                    <a:bodyPr/>
                    <a:p>
                      <a:pPr indent="0"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上级政策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可行性</a:t>
                      </a:r>
                      <a:r>
                        <a:rPr 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迫切性</a:t>
                      </a:r>
                      <a:r>
                        <a:rPr 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组能力</a:t>
                      </a:r>
                      <a:r>
                        <a:rPr 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总分 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选定</a:t>
                      </a:r>
                      <a:endParaRPr lang="en-US" altLang="en-US" sz="1600" b="1">
                        <a:solidFill>
                          <a:srgbClr val="FFFFFF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cap="flat">
                      <a:noFill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905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提高脑卒中偏瘫患者良肢位摆放正确</a:t>
                      </a:r>
                      <a:r>
                        <a:rPr lang="zh-CN" altLang="en-US" sz="1600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率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endParaRPr lang="zh-CN" altLang="en-US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18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16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70</a:t>
                      </a: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     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★</a:t>
                      </a: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  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     </a:t>
                      </a:r>
                      <a:endParaRPr lang="en-US" altLang="en-US" sz="1600" b="1">
                        <a:solidFill>
                          <a:srgbClr val="00000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600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提高</a:t>
                      </a:r>
                      <a:r>
                        <a:rPr lang="zh-CN" altLang="en-US" sz="1600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脑梗死患者良肢位摆放</a:t>
                      </a:r>
                      <a:r>
                        <a:rPr lang="zh-CN" altLang="en-US" sz="1600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正确率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12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18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12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52</a:t>
                      </a:r>
                      <a:endParaRPr lang="en-US" altLang="en-US" sz="16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600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降低</a:t>
                      </a:r>
                      <a:r>
                        <a:rPr lang="zh-CN" altLang="en-US" sz="1600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偏瘫患者体位摆放错误率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12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10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12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14</a:t>
                      </a:r>
                      <a:endParaRPr lang="zh-CN" altLang="en-US" sz="16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48</a:t>
                      </a:r>
                      <a:endParaRPr lang="zh-CN" altLang="en-US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634603" y="3260158"/>
          <a:ext cx="7651750" cy="2945130"/>
        </p:xfrm>
        <a:graphic>
          <a:graphicData uri="http://schemas.openxmlformats.org/drawingml/2006/table">
            <a:tbl>
              <a:tblPr/>
              <a:tblGrid>
                <a:gridCol w="981075"/>
                <a:gridCol w="682625"/>
                <a:gridCol w="1231265"/>
                <a:gridCol w="1136015"/>
                <a:gridCol w="1365250"/>
                <a:gridCol w="2255520"/>
              </a:tblGrid>
              <a:tr h="393700">
                <a:tc rowSpan="4">
                  <a:txBody>
                    <a:bodyPr/>
                    <a:p>
                      <a:pPr indent="0">
                        <a:buNone/>
                      </a:pPr>
                      <a:endParaRPr lang="zh-CN" altLang="en-US" sz="2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2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2400">
                          <a:latin typeface="楷体" panose="02010609060101010101" charset="-122"/>
                          <a:ea typeface="楷体" panose="02010609060101010101" charset="-122"/>
                        </a:rPr>
                        <a:t>评价</a:t>
                      </a:r>
                      <a:r>
                        <a:rPr lang="zh-CN" altLang="en-US" sz="2400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说明</a:t>
                      </a:r>
                      <a:endParaRPr lang="zh-CN" altLang="en-US" sz="24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分数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上级</a:t>
                      </a: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政策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可行性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迫切性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8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组能力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</a:tr>
              <a:tr h="370840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知道存在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可行性低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等医嘱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需</a:t>
                      </a: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多</a:t>
                      </a: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单位配合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365760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要求执行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可行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治疗后实施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需一个单位配合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  <a:tr h="424180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亟待实施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高度</a:t>
                      </a: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可行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分秒必争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700">
                          <a:solidFill>
                            <a:srgbClr val="00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能自行解决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1390650">
                <a:tc gridSpan="6"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注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依据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、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、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评分法，共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人参与选题过程，每位组员对每一主题，每一评价专案均进行打分，将每个主题评价维度组员打分相加得出总分排序，得分最高者顺位为本次活动主题。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EEB"/>
                    </a:solidFill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 userDrawn="1"/>
        </p:nvSpPr>
        <p:spPr>
          <a:xfrm>
            <a:off x="2382155" y="1479237"/>
            <a:ext cx="889000" cy="829945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en-US" altLang="zh-CN" sz="2400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2400">
                <a:latin typeface="楷体" panose="02010609060101010101" charset="-122"/>
                <a:ea typeface="楷体" panose="02010609060101010101" charset="-122"/>
              </a:rPr>
              <a:t>主题选定</a:t>
            </a:r>
            <a:endParaRPr lang="zh-CN" altLang="en-US" sz="2400"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89441ca529a458658f4cedfcf53c749"/>
          <p:cNvPicPr>
            <a:picLocks noChangeAspect="1"/>
          </p:cNvPicPr>
          <p:nvPr/>
        </p:nvPicPr>
        <p:blipFill>
          <a:blip r:embed="rId1"/>
          <a:srcRect l="8994" r="3130"/>
          <a:stretch>
            <a:fillRect/>
          </a:stretch>
        </p:blipFill>
        <p:spPr>
          <a:xfrm>
            <a:off x="2052320" y="1560830"/>
            <a:ext cx="8309610" cy="3736975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55650" y="987425"/>
            <a:ext cx="1551940" cy="46037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400"/>
              <a:t>活动步骤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>
            <a:graphicFrameLocks noChangeAspect="1"/>
          </p:cNvGraphicFramePr>
          <p:nvPr/>
        </p:nvGraphicFramePr>
        <p:xfrm>
          <a:off x="1730948" y="1443582"/>
          <a:ext cx="8897620" cy="4013387"/>
        </p:xfrm>
        <a:graphic>
          <a:graphicData uri="http://schemas.openxmlformats.org/drawingml/2006/table">
            <a:tbl>
              <a:tblPr/>
              <a:tblGrid>
                <a:gridCol w="308610"/>
                <a:gridCol w="821055"/>
                <a:gridCol w="212725"/>
                <a:gridCol w="208280"/>
                <a:gridCol w="208280"/>
                <a:gridCol w="207645"/>
                <a:gridCol w="208280"/>
                <a:gridCol w="208280"/>
                <a:gridCol w="208280"/>
                <a:gridCol w="208280"/>
                <a:gridCol w="207645"/>
                <a:gridCol w="208280"/>
                <a:gridCol w="207645"/>
                <a:gridCol w="208280"/>
                <a:gridCol w="208280"/>
                <a:gridCol w="208280"/>
                <a:gridCol w="208280"/>
                <a:gridCol w="208280"/>
                <a:gridCol w="208280"/>
                <a:gridCol w="207645"/>
                <a:gridCol w="208280"/>
                <a:gridCol w="208280"/>
                <a:gridCol w="208280"/>
                <a:gridCol w="207645"/>
                <a:gridCol w="208280"/>
                <a:gridCol w="208280"/>
                <a:gridCol w="873760"/>
                <a:gridCol w="661035"/>
                <a:gridCol w="1233170"/>
              </a:tblGrid>
              <a:tr h="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200"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WHAT</a:t>
                      </a:r>
                      <a:endParaRPr lang="zh-CN" altLang="en-US" sz="1200"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gridSpan="2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200"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WHEN</a:t>
                      </a:r>
                      <a:endParaRPr lang="zh-CN" altLang="en-US" sz="1200"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200"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WHO</a:t>
                      </a:r>
                      <a:endParaRPr lang="zh-CN" altLang="en-US" sz="1200"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200"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WHERE</a:t>
                      </a:r>
                      <a:endParaRPr lang="zh-CN" altLang="en-US" sz="1200"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200">
                          <a:latin typeface="仿宋" panose="02010609060101010101" charset="-122"/>
                          <a:ea typeface="仿宋" panose="02010609060101010101" charset="-122"/>
                          <a:cs typeface="仿宋" panose="02010609060101010101" charset="-122"/>
                        </a:rPr>
                        <a:t>HOW</a:t>
                      </a:r>
                      <a:endParaRPr lang="zh-CN" altLang="en-US" sz="1200">
                        <a:latin typeface="仿宋" panose="02010609060101010101" charset="-122"/>
                        <a:ea typeface="仿宋" panose="02010609060101010101" charset="-122"/>
                        <a:cs typeface="仿宋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283845">
                <a:tc>
                  <a:txBody>
                    <a:bodyPr/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</a:rPr>
                        <a:t>日</a:t>
                      </a: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期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gridSpan="4"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.6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8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.9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.10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202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.11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20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25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.12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负责人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地点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PDCA</a:t>
                      </a:r>
                      <a:r>
                        <a:rPr lang="zh-CN" sz="1200" b="1">
                          <a:solidFill>
                            <a:srgbClr val="FFFFFF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工具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</a:tr>
              <a:tr h="283845">
                <a:tc rowSpan="8">
                  <a:txBody>
                    <a:bodyPr/>
                    <a:p>
                      <a:pPr indent="0">
                        <a:buNone/>
                      </a:pPr>
                      <a:endParaRPr lang="en-US" altLang="zh-CN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en-US" altLang="zh-CN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en-US" altLang="zh-CN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en-US" altLang="zh-CN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en-US" altLang="zh-CN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en-US" altLang="zh-CN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altLang="zh-CN" sz="16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P</a:t>
                      </a:r>
                      <a:endParaRPr lang="zh-CN" altLang="en-US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周数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r>
                        <a:rPr lang="en-US" sz="9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4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rowSpan="11">
                  <a:txBody>
                    <a:bodyPr/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</a:rPr>
                        <a:t>于东梅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</a:rPr>
                        <a:t>韩蕊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</a:rPr>
                        <a:t>李晶晶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</a:rPr>
                        <a:t>孙瑶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900" b="1">
                          <a:latin typeface="楷体" panose="02010609060101010101" charset="-122"/>
                          <a:ea typeface="楷体" panose="02010609060101010101" charset="-122"/>
                        </a:rPr>
                        <a:t>于东梅韩蕊李晶晶孙瑶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900" b="1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于东梅韩蕊李晶晶孙瑶</a:t>
                      </a: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于东梅韩蕊李晶晶孙瑶</a:t>
                      </a: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rowSpan="11">
                  <a:txBody>
                    <a:bodyPr/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病区</a:t>
                      </a: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病区</a:t>
                      </a: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病区</a:t>
                      </a: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病区</a:t>
                      </a: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rowSpan="11">
                  <a:txBody>
                    <a:bodyPr/>
                    <a:p>
                      <a:pPr indent="0">
                        <a:buNone/>
                      </a:pP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头脑风暴共识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标准法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甘特图</a:t>
                      </a:r>
                      <a:r>
                        <a:rPr lang="en-US" alt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</a:t>
                      </a: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小组讨论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查检表</a:t>
                      </a:r>
                      <a:r>
                        <a:rPr lang="en-US" alt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</a:t>
                      </a: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柏拉图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柱状图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头脑风暴法</a:t>
                      </a:r>
                      <a:r>
                        <a:rPr lang="en-US" alt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</a:t>
                      </a: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鱼骨图</a:t>
                      </a:r>
                      <a:r>
                        <a:rPr lang="en-US" alt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</a:t>
                      </a: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评价法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头脑风暴法</a:t>
                      </a:r>
                      <a:r>
                        <a:rPr lang="en-US" alt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</a:t>
                      </a: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查检表评价法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查检表柏拉图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柱状图</a:t>
                      </a:r>
                      <a:r>
                        <a:rPr lang="en-US" altLang="zh-CN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</a:t>
                      </a: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雷达图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标准化作业书</a:t>
                      </a:r>
                      <a:endParaRPr lang="zh-CN" altLang="en-US" sz="10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0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小组讨论</a:t>
                      </a:r>
                      <a:endParaRPr lang="zh-CN" altLang="en-US" sz="10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283210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圈成员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3845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主题</a:t>
                      </a:r>
                      <a:r>
                        <a:rPr lang="zh-CN" altLang="en-US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选</a:t>
                      </a: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定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3845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计划</a:t>
                      </a:r>
                      <a:r>
                        <a:rPr lang="zh-CN" altLang="en-US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拟定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3210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现状把握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3845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目标设定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3210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原因解</a:t>
                      </a: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析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3845">
                <a:tc vMerge="1"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</a:rPr>
                        <a:t>对策</a:t>
                      </a: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拟定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1931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D</a:t>
                      </a:r>
                      <a:endParaRPr lang="zh-CN" altLang="en-US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对策实施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highlight>
                          <a:srgbClr val="0000FF"/>
                        </a:highlight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highlight>
                          <a:srgbClr val="0000FF"/>
                        </a:highlight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highlight>
                          <a:srgbClr val="0000FF"/>
                        </a:highlight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509501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C</a:t>
                      </a:r>
                      <a:endParaRPr lang="zh-CN" altLang="en-US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效果确认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AEDEF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545412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A</a:t>
                      </a:r>
                      <a:endParaRPr lang="zh-CN" altLang="en-US" sz="16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1">
                          <a:solidFill>
                            <a:srgbClr val="40404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标准化</a:t>
                      </a:r>
                      <a:endParaRPr lang="zh-CN" sz="1200" b="1">
                        <a:solidFill>
                          <a:srgbClr val="40404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200" b="1">
                          <a:latin typeface="楷体" panose="02010609060101010101" charset="-122"/>
                          <a:ea typeface="楷体" panose="02010609060101010101" charset="-122"/>
                        </a:rPr>
                        <a:t>检讨改进</a:t>
                      </a:r>
                      <a:endParaRPr lang="zh-CN" altLang="en-US" sz="1200" b="1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 rtl="0">
                        <a:lnSpc>
                          <a:spcPct val="70000"/>
                        </a:lnSpc>
                        <a:buNone/>
                      </a:pPr>
                      <a:endParaRPr lang="zh-CN" altLang="en-US" sz="900" b="1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vert="horz" anchor="t" anchorCtr="0"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>
                        <a:alpha val="100000"/>
                      </a:srgbClr>
                    </a:solidFill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 userDrawn="1"/>
        </p:nvSpPr>
        <p:spPr>
          <a:xfrm>
            <a:off x="2907030" y="2832735"/>
            <a:ext cx="1066800" cy="36703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002060"/>
                </a:solidFill>
                <a:highlight>
                  <a:srgbClr val="00FF00"/>
                </a:highlight>
              </a:rPr>
              <a:t>P   30% </a:t>
            </a:r>
            <a:endParaRPr lang="zh-CN" altLang="en-US" sz="2000">
              <a:solidFill>
                <a:srgbClr val="002060"/>
              </a:solidFill>
              <a:highlight>
                <a:srgbClr val="00FF00"/>
              </a:highlight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4548005" y="3868585"/>
            <a:ext cx="1130300" cy="4000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>
                <a:highlight>
                  <a:srgbClr val="00FFFF"/>
                </a:highlight>
              </a:rPr>
              <a:t>D </a:t>
            </a:r>
            <a:r>
              <a:rPr lang="en-US" altLang="zh-CN" sz="2000">
                <a:highlight>
                  <a:srgbClr val="00FFFF"/>
                </a:highlight>
                <a:cs typeface="Arial" panose="020B0604020202020204" pitchFamily="34" charset="0"/>
              </a:rPr>
              <a:t>  </a:t>
            </a:r>
            <a:r>
              <a:rPr lang="en-US" altLang="zh-CN" sz="2000">
                <a:highlight>
                  <a:srgbClr val="00FFFF"/>
                </a:highlight>
              </a:rPr>
              <a:t>40%</a:t>
            </a:r>
            <a:endParaRPr lang="zh-CN" altLang="en-US" sz="2000">
              <a:highlight>
                <a:srgbClr val="00FFFF"/>
              </a:highlight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6077088" y="4331238"/>
            <a:ext cx="1130300" cy="2222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>
                <a:highlight>
                  <a:srgbClr val="FFFF00"/>
                </a:highlight>
              </a:rPr>
              <a:t>C </a:t>
            </a:r>
            <a:r>
              <a:rPr lang="en-US" altLang="zh-CN" sz="2000">
                <a:highlight>
                  <a:srgbClr val="FFFF00"/>
                </a:highlight>
                <a:cs typeface="Arial" panose="020B0604020202020204" pitchFamily="34" charset="0"/>
              </a:rPr>
              <a:t>  2</a:t>
            </a:r>
            <a:r>
              <a:rPr lang="en-US" altLang="zh-CN" sz="2000">
                <a:highlight>
                  <a:srgbClr val="FFFF00"/>
                </a:highlight>
              </a:rPr>
              <a:t>0%</a:t>
            </a:r>
            <a:endParaRPr lang="zh-CN" altLang="en-US" sz="2000">
              <a:highlight>
                <a:srgbClr val="FFFF00"/>
              </a:highlight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207357" y="4909044"/>
            <a:ext cx="914400" cy="4000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000">
                <a:highlight>
                  <a:srgbClr val="008000"/>
                </a:highlight>
              </a:rPr>
              <a:t>A</a:t>
            </a:r>
            <a:r>
              <a:rPr lang="en-US" altLang="zh-CN" sz="2000">
                <a:highlight>
                  <a:srgbClr val="008000"/>
                </a:highlight>
                <a:cs typeface="Arial" panose="020B0604020202020204" pitchFamily="34" charset="0"/>
              </a:rPr>
              <a:t>1</a:t>
            </a:r>
            <a:r>
              <a:rPr lang="en-US" altLang="zh-CN" sz="2000">
                <a:highlight>
                  <a:srgbClr val="008000"/>
                </a:highlight>
              </a:rPr>
              <a:t>0</a:t>
            </a:r>
            <a:endParaRPr lang="zh-CN" altLang="en-US" sz="2000">
              <a:highlight>
                <a:srgbClr val="008000"/>
              </a:highlight>
            </a:endParaRPr>
          </a:p>
        </p:txBody>
      </p:sp>
      <p:sp>
        <p:nvSpPr>
          <p:cNvPr id="8" name="标题 2"/>
          <p:cNvSpPr>
            <a:spLocks noGrp="1"/>
          </p:cNvSpPr>
          <p:nvPr/>
        </p:nvSpPr>
        <p:spPr>
          <a:xfrm>
            <a:off x="1731265" y="928370"/>
            <a:ext cx="224007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计划拟定</a:t>
            </a:r>
            <a:endParaRPr lang="zh-CN" altLang="en-US" sz="2000" dirty="0" smtClean="0"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TextBox 48"/>
          <p:cNvSpPr txBox="1"/>
          <p:nvPr/>
        </p:nvSpPr>
        <p:spPr>
          <a:xfrm>
            <a:off x="6181090" y="1497330"/>
            <a:ext cx="3048000" cy="1807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graphicFrame>
        <p:nvGraphicFramePr>
          <p:cNvPr id="34" name="图表 33"/>
          <p:cNvGraphicFramePr/>
          <p:nvPr/>
        </p:nvGraphicFramePr>
        <p:xfrm>
          <a:off x="1597660" y="2165985"/>
          <a:ext cx="962215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363470" y="12693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改善前柏拉图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5720" y="1642745"/>
            <a:ext cx="9897110" cy="364998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/>
        </p:nvSpPr>
        <p:spPr>
          <a:xfrm>
            <a:off x="1697090" y="1169405"/>
            <a:ext cx="8226900" cy="5292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7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800" dirty="0" smtClean="0"/>
              <a:t>评价指标及评估工具</a:t>
            </a:r>
            <a:endParaRPr lang="zh-CN" altLang="en-US" sz="1800" dirty="0"/>
          </a:p>
        </p:txBody>
      </p:sp>
      <p:sp>
        <p:nvSpPr>
          <p:cNvPr id="5" name="内容占位符 4"/>
          <p:cNvSpPr>
            <a:spLocks noGrp="1"/>
          </p:cNvSpPr>
          <p:nvPr/>
        </p:nvSpPr>
        <p:spPr>
          <a:xfrm>
            <a:off x="1697090" y="1830905"/>
            <a:ext cx="8226900" cy="3569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主要指标：提高脑卒中偏瘫患者良肢位摆放正确率（</a:t>
            </a:r>
            <a:r>
              <a:rPr lang="en-US" altLang="zh-CN" dirty="0" smtClean="0"/>
              <a:t>100%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次要指标：神经内科良肢位摆放错误发生率（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评价标准</a:t>
            </a:r>
            <a:endParaRPr lang="en-US" altLang="zh-CN" dirty="0" smtClean="0"/>
          </a:p>
          <a:p>
            <a:r>
              <a:rPr lang="zh-CN" altLang="en-US" dirty="0" smtClean="0"/>
              <a:t>通过参照</a:t>
            </a:r>
            <a:r>
              <a:rPr lang="en-US" altLang="zh-CN" dirty="0" smtClean="0"/>
              <a:t>《</a:t>
            </a:r>
            <a:r>
              <a:rPr lang="zh-CN" altLang="en-US" dirty="0" smtClean="0"/>
              <a:t>中国脑血管病临床管理指南（第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版）第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章</a:t>
            </a:r>
            <a:r>
              <a:rPr lang="en-US" altLang="zh-CN" dirty="0" smtClean="0"/>
              <a:t> </a:t>
            </a:r>
            <a:r>
              <a:rPr lang="zh-CN" altLang="en-US" dirty="0" smtClean="0"/>
              <a:t>康复管理（中国卒中学会，</a:t>
            </a:r>
            <a:r>
              <a:rPr lang="en-US" altLang="zh-CN" dirty="0" smtClean="0"/>
              <a:t>2023</a:t>
            </a:r>
            <a:r>
              <a:rPr lang="zh-CN" altLang="en-US" dirty="0" smtClean="0"/>
              <a:t>版）</a:t>
            </a:r>
            <a:r>
              <a:rPr lang="en-US" altLang="zh-CN" dirty="0" smtClean="0"/>
              <a:t>》</a:t>
            </a:r>
            <a:r>
              <a:rPr lang="en-US" altLang="zh-CN" sz="1000" dirty="0" smtClean="0"/>
              <a:t>[9]</a:t>
            </a:r>
            <a:r>
              <a:rPr lang="zh-CN" altLang="en-US" sz="1000" dirty="0" smtClean="0"/>
              <a:t>、</a:t>
            </a:r>
            <a:r>
              <a:rPr lang="zh-CN" altLang="en-US" dirty="0" smtClean="0"/>
              <a:t>全国团体标准</a:t>
            </a:r>
            <a:r>
              <a:rPr lang="en-US" altLang="zh-CN" dirty="0" smtClean="0"/>
              <a:t>T-CARM009-2023《</a:t>
            </a:r>
            <a:r>
              <a:rPr lang="zh-CN" altLang="en-US" dirty="0" smtClean="0"/>
              <a:t>脑卒中偏瘫患者良肢位护理规范</a:t>
            </a:r>
            <a:r>
              <a:rPr lang="en-US" altLang="zh-CN" dirty="0" smtClean="0"/>
              <a:t>》</a:t>
            </a:r>
            <a:r>
              <a:rPr lang="zh-CN" altLang="en-US" dirty="0" smtClean="0"/>
              <a:t>、</a:t>
            </a:r>
            <a:r>
              <a:rPr lang="en-US" altLang="zh-CN" dirty="0" smtClean="0"/>
              <a:t>《</a:t>
            </a:r>
            <a:r>
              <a:rPr lang="zh-CN" altLang="en-US" dirty="0" smtClean="0"/>
              <a:t>护理敏感质量指标实用手册（</a:t>
            </a:r>
            <a:r>
              <a:rPr lang="en-US" altLang="zh-CN" dirty="0" smtClean="0"/>
              <a:t>2016</a:t>
            </a:r>
            <a:r>
              <a:rPr lang="zh-CN" altLang="en-US" dirty="0" smtClean="0"/>
              <a:t>）版</a:t>
            </a:r>
            <a:r>
              <a:rPr lang="en-US" altLang="zh-CN" dirty="0" smtClean="0"/>
              <a:t>》</a:t>
            </a:r>
            <a:r>
              <a:rPr lang="zh-CN" altLang="en-US" dirty="0" smtClean="0"/>
              <a:t>、</a:t>
            </a:r>
            <a:r>
              <a:rPr lang="en-US" altLang="zh-CN" dirty="0" smtClean="0"/>
              <a:t>《</a:t>
            </a:r>
            <a:r>
              <a:rPr lang="zh-CN" altLang="en-US" dirty="0" smtClean="0"/>
              <a:t>护理敏感质量指标监测基本数据集实施指南（</a:t>
            </a:r>
            <a:r>
              <a:rPr lang="en-US" altLang="zh-CN" dirty="0" smtClean="0"/>
              <a:t>2018</a:t>
            </a:r>
            <a:r>
              <a:rPr lang="zh-CN" altLang="en-US" dirty="0" smtClean="0"/>
              <a:t>）版</a:t>
            </a:r>
            <a:r>
              <a:rPr lang="en-US" altLang="zh-CN" dirty="0" smtClean="0"/>
              <a:t>》</a:t>
            </a:r>
            <a:r>
              <a:rPr lang="zh-CN" altLang="en-US" dirty="0" smtClean="0"/>
              <a:t>，经过科室高年资护士讨论，我科自行制定了</a:t>
            </a:r>
            <a:r>
              <a:rPr lang="en-US" altLang="zh-CN" dirty="0" smtClean="0"/>
              <a:t>《</a:t>
            </a:r>
            <a:r>
              <a:rPr lang="zh-CN" altLang="en-US" dirty="0" smtClean="0"/>
              <a:t>神经内科脑卒中偏瘫患者良肢位摆放评估量表</a:t>
            </a:r>
            <a:r>
              <a:rPr lang="en-US" altLang="zh-CN" dirty="0" smtClean="0"/>
              <a:t>》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1936109" y="917512"/>
            <a:ext cx="4572385" cy="977265"/>
          </a:xfrm>
          <a:prstGeom prst="rect">
            <a:avLst/>
          </a:prstGeom>
        </p:spPr>
        <p:txBody>
          <a:bodyPr rtlCol="0">
            <a:noAutofit/>
          </a:bodyPr>
          <a:p>
            <a:r>
              <a:rPr lang="zh-CN" altLang="en-US" sz="2400"/>
              <a:t>评估</a:t>
            </a:r>
            <a:r>
              <a:rPr lang="zh-CN" altLang="en-US" sz="2400">
                <a:cs typeface="Arial" panose="020B0604020202020204" pitchFamily="34" charset="0"/>
              </a:rPr>
              <a:t>工具</a:t>
            </a:r>
            <a:endParaRPr lang="zh-CN" altLang="en-US" sz="2400"/>
          </a:p>
        </p:txBody>
      </p:sp>
      <p:pic>
        <p:nvPicPr>
          <p:cNvPr id="10" name="图片 9" descr="屏幕截图 2026-03-01 1240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2730" y="1377315"/>
            <a:ext cx="7915275" cy="48482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1890597" y="1646943"/>
            <a:ext cx="7075935" cy="267652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目标</a:t>
            </a:r>
            <a:r>
              <a:rPr lang="zh-CN" altLang="en-US">
                <a:cs typeface="Arial" panose="020B0604020202020204" pitchFamily="34" charset="0"/>
              </a:rPr>
              <a:t>设定情况：经过品管圈活动，脑卒中偏瘫患者良肢位摆放正确率率从</a:t>
            </a:r>
            <a:r>
              <a:rPr lang="en-US" altLang="zh-CN">
                <a:cs typeface="Arial" panose="020B0604020202020204" pitchFamily="34" charset="0"/>
              </a:rPr>
              <a:t>57.14%</a:t>
            </a:r>
            <a:r>
              <a:rPr lang="zh-CN" altLang="en-US">
                <a:cs typeface="Arial" panose="020B0604020202020204" pitchFamily="34" charset="0"/>
              </a:rPr>
              <a:t>升至</a:t>
            </a:r>
            <a:r>
              <a:rPr lang="en-US" altLang="zh-CN">
                <a:cs typeface="Arial" panose="020B0604020202020204" pitchFamily="34" charset="0"/>
              </a:rPr>
              <a:t>80%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——100%</a:t>
            </a:r>
            <a:endParaRPr lang="zh-CN" altLang="en-US">
              <a:solidFill>
                <a:srgbClr val="000000"/>
              </a:solidFill>
              <a:cs typeface="Arial" panose="020B0604020202020204" pitchFamily="34" charset="0"/>
            </a:endParaRP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cs typeface="Arial" panose="020B0604020202020204" pitchFamily="34" charset="0"/>
              </a:rPr>
              <a:t>目标值=现况值+（</a:t>
            </a:r>
            <a:r>
              <a:rPr lang="en-US" altLang="zh-CN">
                <a:cs typeface="Arial" panose="020B0604020202020204" pitchFamily="34" charset="0"/>
              </a:rPr>
              <a:t>1</a:t>
            </a:r>
            <a:r>
              <a:rPr lang="zh-CN" altLang="en-US">
                <a:cs typeface="Arial" panose="020B0604020202020204" pitchFamily="34" charset="0"/>
              </a:rPr>
              <a:t>-现况值）</a:t>
            </a:r>
            <a:r>
              <a:rPr lang="en-US" altLang="en-US">
                <a:cs typeface="Arial" panose="020B0604020202020204" pitchFamily="34" charset="0"/>
              </a:rPr>
              <a:t>×</a:t>
            </a:r>
            <a:r>
              <a:rPr lang="zh-CN" altLang="en-US">
                <a:cs typeface="Arial" panose="020B0604020202020204" pitchFamily="34" charset="0"/>
              </a:rPr>
              <a:t>组能力</a:t>
            </a:r>
            <a:r>
              <a:rPr lang="en-US" altLang="en-US">
                <a:cs typeface="Arial" panose="020B0604020202020204" pitchFamily="34" charset="0"/>
              </a:rPr>
              <a:t>×</a:t>
            </a:r>
            <a:r>
              <a:rPr lang="zh-CN" altLang="en-US">
                <a:cs typeface="Arial" panose="020B0604020202020204" pitchFamily="34" charset="0"/>
              </a:rPr>
              <a:t>改善重点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/>
              <a:t>           =</a:t>
            </a:r>
            <a:r>
              <a:rPr lang="en-US" altLang="zh-CN"/>
              <a:t>57.14%+</a:t>
            </a:r>
            <a:r>
              <a:rPr lang="zh-CN" altLang="en-US"/>
              <a:t>（</a:t>
            </a:r>
            <a:r>
              <a:rPr lang="en-US" altLang="zh-CN"/>
              <a:t>1-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57.14%</a:t>
            </a:r>
            <a:r>
              <a:rPr lang="zh-CN" altLang="en-US"/>
              <a:t>）</a:t>
            </a:r>
            <a:r>
              <a:rPr lang="en-US" altLang="en-US"/>
              <a:t>×</a:t>
            </a:r>
            <a:r>
              <a:rPr lang="en-US" altLang="en-US">
                <a:solidFill>
                  <a:schemeClr val="tx1"/>
                </a:solidFill>
                <a:ea typeface="宋体" panose="02010600030101010101" pitchFamily="2" charset="-122"/>
              </a:rPr>
              <a:t>7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0%</a:t>
            </a:r>
            <a:r>
              <a:rPr lang="en-US" altLang="en-US"/>
              <a:t>×</a:t>
            </a:r>
            <a:r>
              <a:rPr lang="en-US" altLang="en-US">
                <a:solidFill>
                  <a:schemeClr val="tx1"/>
                </a:solidFill>
                <a:ea typeface="宋体" panose="02010600030101010101" pitchFamily="2" charset="-122"/>
              </a:rPr>
              <a:t>7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5%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           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79.60%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cs typeface="Arial" panose="020B0604020202020204" pitchFamily="34" charset="0"/>
              </a:rPr>
              <a:t>改善幅度=（目标值-现况值）</a:t>
            </a:r>
            <a:r>
              <a:rPr lang="en-US" altLang="zh-CN">
                <a:cs typeface="Arial" panose="020B0604020202020204" pitchFamily="34" charset="0"/>
              </a:rPr>
              <a:t>/</a:t>
            </a:r>
            <a:r>
              <a:rPr lang="zh-CN" altLang="en-US">
                <a:cs typeface="Arial" panose="020B0604020202020204" pitchFamily="34" charset="0"/>
              </a:rPr>
              <a:t>现况值</a:t>
            </a:r>
            <a:r>
              <a:rPr lang="en-US" altLang="en-US">
                <a:cs typeface="Arial" panose="020B0604020202020204" pitchFamily="34" charset="0"/>
              </a:rPr>
              <a:t>×</a:t>
            </a:r>
            <a:r>
              <a:rPr lang="en-US" altLang="zh-CN">
                <a:cs typeface="Arial" panose="020B0604020202020204" pitchFamily="34" charset="0"/>
              </a:rPr>
              <a:t>100%</a:t>
            </a:r>
            <a:endParaRPr lang="en-US" altLang="zh-CN">
              <a:cs typeface="Arial" panose="020B0604020202020204" pitchFamily="34" charset="0"/>
            </a:endParaRPr>
          </a:p>
          <a:p>
            <a:r>
              <a:rPr lang="en-US" altLang="zh-CN">
                <a:cs typeface="Arial" panose="020B0604020202020204" pitchFamily="34" charset="0"/>
              </a:rPr>
              <a:t>              </a:t>
            </a:r>
            <a:r>
              <a:rPr lang="zh-CN" altLang="en-US">
                <a:cs typeface="Arial" panose="020B0604020202020204" pitchFamily="34" charset="0"/>
              </a:rPr>
              <a:t>=（</a:t>
            </a:r>
            <a:r>
              <a:rPr lang="en-US" altLang="zh-CN">
                <a:cs typeface="Arial" panose="020B0604020202020204" pitchFamily="34" charset="0"/>
              </a:rPr>
              <a:t>79.6%</a:t>
            </a:r>
            <a:r>
              <a:rPr lang="zh-CN" altLang="en-US">
                <a:cs typeface="Arial" panose="020B0604020202020204" pitchFamily="34" charset="0"/>
              </a:rPr>
              <a:t>-</a:t>
            </a:r>
            <a:r>
              <a:rPr lang="en-US" altLang="zh-CN">
                <a:cs typeface="Arial" panose="020B0604020202020204" pitchFamily="34" charset="0"/>
              </a:rPr>
              <a:t>57.14%</a:t>
            </a:r>
            <a:r>
              <a:rPr lang="zh-CN" altLang="en-US">
                <a:cs typeface="Arial" panose="020B0604020202020204" pitchFamily="34" charset="0"/>
              </a:rPr>
              <a:t>）</a:t>
            </a:r>
            <a:r>
              <a:rPr lang="en-US" altLang="zh-CN">
                <a:cs typeface="Arial" panose="020B0604020202020204" pitchFamily="34" charset="0"/>
              </a:rPr>
              <a:t>/57.14%</a:t>
            </a:r>
            <a:r>
              <a:rPr lang="en-US" altLang="en-US">
                <a:cs typeface="Arial" panose="020B0604020202020204" pitchFamily="34" charset="0"/>
              </a:rPr>
              <a:t>×</a:t>
            </a:r>
            <a:r>
              <a:rPr lang="en-US" altLang="zh-CN">
                <a:cs typeface="Arial" panose="020B0604020202020204" pitchFamily="34" charset="0"/>
              </a:rPr>
              <a:t>100%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/>
              <a:t>              =</a:t>
            </a:r>
            <a:r>
              <a:rPr lang="en-US" altLang="zh-CN"/>
              <a:t>39.30%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cs typeface="Arial" panose="020B0604020202020204" pitchFamily="34" charset="0"/>
              </a:rPr>
              <a:t>                                                               对比柱状图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2655879" y="986715"/>
            <a:ext cx="6843812" cy="175323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真因验证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928074" y="1277727"/>
          <a:ext cx="4105275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550"/>
                <a:gridCol w="876300"/>
                <a:gridCol w="25114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W2H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h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at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查检内容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导致脑卒中偏瘫患者正确率未达标的原因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Why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查检原因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了解脑卒中偏瘫患者良肢位摆放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未达标的情况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Who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查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检</a:t>
                      </a:r>
                      <a:r>
                        <a:rPr lang="zh-CN" altLang="en-US"/>
                        <a:t>负责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于东梅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When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查检时间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选取</a:t>
                      </a:r>
                      <a:r>
                        <a:rPr lang="en-US" altLang="zh-CN"/>
                        <a:t>2025</a:t>
                      </a:r>
                      <a:r>
                        <a:rPr lang="zh-CN" altLang="en-US"/>
                        <a:t>年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/>
                        <a:t>月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1日</a:t>
                      </a:r>
                      <a:r>
                        <a:rPr lang="zh-CN" altLang="en-US"/>
                        <a:t>-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/>
                        <a:t>月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zh-CN" altLang="en-US"/>
                        <a:t>日调查数据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Where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查检地点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病房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How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查检方式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现场调查，并统计、记录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How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cs typeface="Arial" panose="020B0604020202020204" pitchFamily="34" charset="0"/>
                        </a:rPr>
                        <a:t>nuch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查检数据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随机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调查未达标患者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例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6178197" y="1193920"/>
          <a:ext cx="434721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4930"/>
                <a:gridCol w="991235"/>
                <a:gridCol w="710565"/>
                <a:gridCol w="1300480"/>
              </a:tblGrid>
              <a:tr h="29718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真因验证查检数据汇总表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 hMerge="1">
                  <a:tcPr>
                    <a:solidFill>
                      <a:srgbClr val="FFC000">
                        <a:alpha val="100000"/>
                      </a:srgb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项目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发生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例数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百分比（</a:t>
                      </a:r>
                      <a:r>
                        <a:rPr lang="en-US" altLang="zh-CN"/>
                        <a:t>%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累计百分比（</a:t>
                      </a:r>
                      <a:r>
                        <a:rPr lang="en-US" altLang="zh-CN"/>
                        <a:t>%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护士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知识掌握不到位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8.18%</a:t>
                      </a:r>
                      <a:endParaRPr lang="en-US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18.18%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缺乏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规范流程指引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18.18%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36.36</a:t>
                      </a:r>
                      <a:r>
                        <a:rPr lang="en-US" altLang="zh-CN"/>
                        <a:t>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宣教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效果不佳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.09%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>
                          <a:solidFill>
                            <a:schemeClr val="tx1"/>
                          </a:solidFill>
                        </a:rPr>
                        <a:t>45.45%</a:t>
                      </a:r>
                      <a:endParaRPr lang="en-US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未作出全面良肢位摆放评估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9.09</a:t>
                      </a:r>
                      <a:r>
                        <a:rPr lang="en-US" altLang="zh-CN"/>
                        <a:t>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54.54%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缺乏良肢位摆放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指南学习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27.28</a:t>
                      </a:r>
                      <a:r>
                        <a:rPr lang="en-US" altLang="zh-CN"/>
                        <a:t>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81.82</a:t>
                      </a:r>
                      <a:r>
                        <a:rPr lang="en-US" altLang="zh-CN"/>
                        <a:t>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监管力度不够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18.1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en-US" altLang="zh-CN"/>
                        <a:t>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en-US" altLang="zh-CN"/>
                        <a:t>%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合计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00%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/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540661" y="393767"/>
            <a:ext cx="8229600" cy="56513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对策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Arial" panose="020B0604020202020204" pitchFamily="34" charset="0"/>
              </a:rPr>
              <a:t>拟定</a:t>
            </a:r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540385" y="835025"/>
            <a:ext cx="10621010" cy="126174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针对查找出来的真因，运用对策系统图，进行对策拟定。依据可行性、经济性、效益性，为评价指标，全体圈员就每一评价项目，依可行性、经济性、效益性，进行对策选定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 b="1"/>
              <a:t>评价方式</a:t>
            </a:r>
            <a:r>
              <a:rPr lang="en-US" altLang="zh-CN" b="1"/>
              <a:t>:</a:t>
            </a:r>
            <a:r>
              <a:rPr lang="zh-CN" altLang="en-US"/>
              <a:t>优</a:t>
            </a:r>
            <a:r>
              <a:rPr lang="en-US" altLang="zh-CN"/>
              <a:t>5</a:t>
            </a:r>
            <a:r>
              <a:rPr lang="zh-CN" altLang="en-US"/>
              <a:t>分、可</a:t>
            </a:r>
            <a:r>
              <a:rPr lang="en-US" altLang="zh-CN"/>
              <a:t>3</a:t>
            </a:r>
            <a:r>
              <a:rPr lang="zh-CN" altLang="en-US"/>
              <a:t>分、差</a:t>
            </a:r>
            <a:r>
              <a:rPr lang="en-US" altLang="zh-CN"/>
              <a:t>1</a:t>
            </a:r>
            <a:r>
              <a:rPr lang="zh-CN" altLang="en-US"/>
              <a:t>分共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zh-CN" altLang="en-US"/>
              <a:t>人打分，满分</a:t>
            </a:r>
            <a:r>
              <a:rPr lang="en-US" altLang="zh-CN"/>
              <a:t>120</a:t>
            </a:r>
            <a:r>
              <a:rPr lang="zh-CN" altLang="en-US"/>
              <a:t>分  </a:t>
            </a:r>
            <a:r>
              <a:rPr lang="en-US" altLang="zh-CN"/>
              <a:t>80/20</a:t>
            </a:r>
            <a:r>
              <a:rPr lang="zh-CN" altLang="en-US"/>
              <a:t>定律</a:t>
            </a:r>
            <a:r>
              <a:rPr lang="en-US" altLang="zh-CN"/>
              <a:t>96</a:t>
            </a:r>
            <a:r>
              <a:rPr lang="zh-CN" altLang="en-US"/>
              <a:t>分以上为实行对策。将选定措施进行同类项合并，最终确定三个对策</a:t>
            </a:r>
            <a:r>
              <a:rPr lang="en-US" altLang="zh-CN"/>
              <a:t>;</a:t>
            </a:r>
            <a:r>
              <a:rPr lang="zh-CN" altLang="en-US"/>
              <a:t>详见下页表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54685" y="1988185"/>
          <a:ext cx="10422890" cy="38296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4980"/>
                <a:gridCol w="3007360"/>
                <a:gridCol w="680720"/>
                <a:gridCol w="731520"/>
                <a:gridCol w="745490"/>
                <a:gridCol w="666115"/>
                <a:gridCol w="661035"/>
                <a:gridCol w="1076960"/>
                <a:gridCol w="996315"/>
                <a:gridCol w="1382395"/>
              </a:tblGrid>
              <a:tr h="24701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原因分析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对策方案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评价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选定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实施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负责人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对策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310515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可行性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经济性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效益性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总分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计划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编号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44704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护士知识掌握不到位</a:t>
                      </a:r>
                      <a:endParaRPr lang="zh-CN" altLang="en-US" sz="900"/>
                    </a:p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建立医护一体化协助模式，并组织操作理论培训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16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18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7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*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6.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zh-CN" altLang="en-US" sz="90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</a:rPr>
                        <a:t>7.10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于东梅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对策一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396875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组织培训学习，建立考核制度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14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10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8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32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3385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全面</a:t>
                      </a:r>
                      <a:r>
                        <a:rPr lang="zh-CN" altLang="en-US" sz="900">
                          <a:cs typeface="Arial" panose="020B0604020202020204" pitchFamily="34" charset="0"/>
                        </a:rPr>
                        <a:t>动态评估患者偏瘫情况，建立规范的良肢位摆放流程指引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17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18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16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51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*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7.10</a:t>
                      </a:r>
                      <a:r>
                        <a:rPr lang="zh-CN" altLang="en-US" sz="900"/>
                        <a:t>-</a:t>
                      </a:r>
                      <a:r>
                        <a:rPr lang="en-US" altLang="zh-CN" sz="900"/>
                        <a:t>7.3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于东梅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对策二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36258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缺乏规范流程指引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制定标准化良肢位摆放操，并执行落实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</a:t>
                      </a:r>
                      <a:r>
                        <a:rPr lang="en-US" altLang="zh-CN" sz="900"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</a:t>
                      </a:r>
                      <a:r>
                        <a:rPr lang="en-US" altLang="zh-CN" sz="900"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90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4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39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94970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制定良肢位摆放</a:t>
                      </a:r>
                      <a:r>
                        <a:rPr lang="zh-CN" altLang="en-US" sz="900">
                          <a:cs typeface="Arial" panose="020B0604020202020204" pitchFamily="34" charset="0"/>
                        </a:rPr>
                        <a:t>流程，并根据患者自</a:t>
                      </a:r>
                      <a:r>
                        <a:rPr lang="zh-CN" altLang="en-US" sz="900"/>
                        <a:t>身情况进行调整流程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10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9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14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33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12115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 sz="900"/>
                        <a:t>宣传</a:t>
                      </a:r>
                      <a:r>
                        <a:rPr lang="zh-CN" altLang="en-US" sz="900">
                          <a:cs typeface="Arial" panose="020B0604020202020204" pitchFamily="34" charset="0"/>
                        </a:rPr>
                        <a:t>效果不佳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制定</a:t>
                      </a:r>
                      <a:r>
                        <a:rPr lang="zh-CN" altLang="en-US" sz="900">
                          <a:cs typeface="Arial" panose="020B0604020202020204" pitchFamily="34" charset="0"/>
                        </a:rPr>
                        <a:t>宣教视频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11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12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10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33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33705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开展宣教大讲堂，制定科普二维码，使患者更直观理解良肢位摆放的重要性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17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15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16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48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*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7.30</a:t>
                      </a:r>
                      <a:r>
                        <a:rPr lang="zh-CN" altLang="en-US" sz="900"/>
                        <a:t>-</a:t>
                      </a:r>
                      <a:r>
                        <a:rPr lang="en-US" altLang="zh-CN" sz="900"/>
                        <a:t>8.20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于东梅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对策三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411480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制作宣教海报，宣教展板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11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10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12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/>
                        <a:t>51</a:t>
                      </a: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90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553460" y="2199005"/>
            <a:ext cx="4705350" cy="1508125"/>
          </a:xfrm>
        </p:spPr>
        <p:txBody>
          <a:bodyPr>
            <a:normAutofit/>
          </a:bodyPr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89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实施</a:t>
            </a:r>
            <a:r>
              <a:rPr lang="zh-CN" altLang="en-US" sz="489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</a:t>
            </a:r>
            <a:endParaRPr lang="zh-CN" altLang="en-US" sz="489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099050" cy="3776345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955800"/>
            <a:ext cx="355600" cy="355600"/>
          </a:xfrm>
          <a:prstGeom prst="rect">
            <a:avLst/>
          </a:prstGeom>
        </p:spPr>
      </p:pic>
      <p:sp>
        <p:nvSpPr>
          <p:cNvPr id="6" name="AutoShape 5"/>
          <p:cNvSpPr/>
          <p:nvPr>
            <p:custDataLst>
              <p:tags r:id="rId5"/>
            </p:custDataLst>
          </p:nvPr>
        </p:nvSpPr>
        <p:spPr>
          <a:xfrm>
            <a:off x="1524000" y="1930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基本概念 (Concept)</a:t>
            </a:r>
            <a:endParaRPr lang="en-US" sz="22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cxnSp>
        <p:nvCxnSpPr>
          <p:cNvPr id="7" name="Connector 6"/>
          <p:cNvCxnSpPr/>
          <p:nvPr>
            <p:custDataLst>
              <p:tags r:id="rId6"/>
            </p:custDataLst>
          </p:nvPr>
        </p:nvCxnSpPr>
        <p:spPr>
          <a:xfrm rot="-9766">
            <a:off x="1066809" y="2406650"/>
            <a:ext cx="4470400" cy="12700"/>
          </a:xfrm>
          <a:prstGeom prst="straightConnector1">
            <a:avLst/>
          </a:prstGeom>
          <a:solidFill>
            <a:schemeClr val="accent2">
              <a:alpha val="100000"/>
            </a:scheme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1066800" y="2603500"/>
            <a:ext cx="4470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良肢位（Good Limb Positioning）是为了保持肢体的良好功能而将其摆放在一种合适的体位或姿势。这是康复护理中最基础且重要的一环。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6223000" y="1651000"/>
            <a:ext cx="5080000" cy="377571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7800" y="1955800"/>
            <a:ext cx="355600" cy="355600"/>
          </a:xfrm>
          <a:prstGeom prst="rect">
            <a:avLst/>
          </a:prstGeom>
        </p:spPr>
      </p:pic>
      <p:sp>
        <p:nvSpPr>
          <p:cNvPr id="12" name="AutoShape 10"/>
          <p:cNvSpPr/>
          <p:nvPr>
            <p:custDataLst>
              <p:tags r:id="rId12"/>
            </p:custDataLst>
          </p:nvPr>
        </p:nvSpPr>
        <p:spPr>
          <a:xfrm>
            <a:off x="6985000" y="1930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核心目标 (Objectives)</a:t>
            </a:r>
            <a:endParaRPr lang="en-US" sz="22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cxnSp>
        <p:nvCxnSpPr>
          <p:cNvPr id="13" name="Connector 11"/>
          <p:cNvCxnSpPr/>
          <p:nvPr>
            <p:custDataLst>
              <p:tags r:id="rId13"/>
            </p:custDataLst>
          </p:nvPr>
        </p:nvCxnSpPr>
        <p:spPr>
          <a:xfrm rot="-9766">
            <a:off x="6527809" y="2406650"/>
            <a:ext cx="4470400" cy="12700"/>
          </a:xfrm>
          <a:prstGeom prst="straightConnector1">
            <a:avLst/>
          </a:prstGeom>
          <a:solidFill>
            <a:schemeClr val="accent2">
              <a:alpha val="100000"/>
            </a:scheme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27800" y="2667000"/>
            <a:ext cx="254000" cy="254000"/>
          </a:xfrm>
          <a:prstGeom prst="rect">
            <a:avLst/>
          </a:prstGeom>
        </p:spPr>
      </p:pic>
      <p:sp>
        <p:nvSpPr>
          <p:cNvPr id="15" name="AutoShape 13"/>
          <p:cNvSpPr/>
          <p:nvPr>
            <p:custDataLst>
              <p:tags r:id="rId17"/>
            </p:custDataLst>
          </p:nvPr>
        </p:nvSpPr>
        <p:spPr>
          <a:xfrm>
            <a:off x="6858000" y="2641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预防关节挛缩和肌肉萎缩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27800" y="3111500"/>
            <a:ext cx="254000" cy="254000"/>
          </a:xfrm>
          <a:prstGeom prst="rect">
            <a:avLst/>
          </a:prstGeom>
        </p:spPr>
      </p:pic>
      <p:sp>
        <p:nvSpPr>
          <p:cNvPr id="17" name="AutoShape 15"/>
          <p:cNvSpPr/>
          <p:nvPr>
            <p:custDataLst>
              <p:tags r:id="rId20"/>
            </p:custDataLst>
          </p:nvPr>
        </p:nvSpPr>
        <p:spPr>
          <a:xfrm>
            <a:off x="6858000" y="3086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预防压疮的发生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527800" y="3556000"/>
            <a:ext cx="254000" cy="254000"/>
          </a:xfrm>
          <a:prstGeom prst="rect">
            <a:avLst/>
          </a:prstGeom>
        </p:spPr>
      </p:pic>
      <p:sp>
        <p:nvSpPr>
          <p:cNvPr id="19" name="AutoShape 17"/>
          <p:cNvSpPr/>
          <p:nvPr>
            <p:custDataLst>
              <p:tags r:id="rId23"/>
            </p:custDataLst>
          </p:nvPr>
        </p:nvSpPr>
        <p:spPr>
          <a:xfrm>
            <a:off x="6858000" y="353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预防肩关节半脱位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1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27800" y="4000500"/>
            <a:ext cx="254000" cy="254000"/>
          </a:xfrm>
          <a:prstGeom prst="rect">
            <a:avLst/>
          </a:prstGeom>
        </p:spPr>
      </p:pic>
      <p:sp>
        <p:nvSpPr>
          <p:cNvPr id="21" name="AutoShape 19"/>
          <p:cNvSpPr/>
          <p:nvPr>
            <p:custDataLst>
              <p:tags r:id="rId26"/>
            </p:custDataLst>
          </p:nvPr>
        </p:nvSpPr>
        <p:spPr>
          <a:xfrm>
            <a:off x="6858000" y="3975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抑制痉挛模式，保持肢体功能位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27800" y="4445000"/>
            <a:ext cx="254000" cy="254000"/>
          </a:xfrm>
          <a:prstGeom prst="rect">
            <a:avLst/>
          </a:prstGeom>
        </p:spPr>
      </p:pic>
      <p:sp>
        <p:nvSpPr>
          <p:cNvPr id="23" name="AutoShape 21"/>
          <p:cNvSpPr/>
          <p:nvPr>
            <p:custDataLst>
              <p:tags r:id="rId29"/>
            </p:custDataLst>
          </p:nvPr>
        </p:nvSpPr>
        <p:spPr>
          <a:xfrm>
            <a:off x="6858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为康复训练打下良好基础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549910" y="883920"/>
            <a:ext cx="109728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良肢位护理：概念与目标</a:t>
            </a:r>
            <a:endParaRPr lang="en-US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良肢位文献插图2"/>
          <p:cNvPicPr>
            <a:picLocks noChangeAspect="1"/>
          </p:cNvPicPr>
          <p:nvPr/>
        </p:nvPicPr>
        <p:blipFill>
          <a:blip r:embed="rId1"/>
          <a:srcRect l="31534" t="32871" r="13145"/>
          <a:stretch>
            <a:fillRect/>
          </a:stretch>
        </p:blipFill>
        <p:spPr>
          <a:xfrm>
            <a:off x="467995" y="916940"/>
            <a:ext cx="4972050" cy="5222240"/>
          </a:xfrm>
          <a:prstGeom prst="rect">
            <a:avLst/>
          </a:prstGeom>
        </p:spPr>
      </p:pic>
      <p:pic>
        <p:nvPicPr>
          <p:cNvPr id="3" name="图片 2" descr="良文献插图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95" y="819150"/>
            <a:ext cx="6296660" cy="55549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2"/>
          <p:cNvSpPr/>
          <p:nvPr>
            <p:custDataLst>
              <p:tags r:id="rId1"/>
            </p:custDataLst>
          </p:nvPr>
        </p:nvSpPr>
        <p:spPr>
          <a:xfrm>
            <a:off x="532765" y="905510"/>
            <a:ext cx="6066155" cy="6470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患侧卧位：公认的“黄金体位”</a:t>
            </a:r>
            <a:endParaRPr lang="en-US" sz="3200" b="1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5" name="AutoShape 3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4572000" cy="4302125"/>
          </a:xfrm>
          <a:prstGeom prst="roundRect">
            <a:avLst>
              <a:gd name="adj" fmla="val 2777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6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7055" b="7055"/>
          <a:stretch>
            <a:fillRect/>
          </a:stretch>
        </p:blipFill>
        <p:spPr>
          <a:xfrm>
            <a:off x="952500" y="1841500"/>
            <a:ext cx="3078480" cy="419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5"/>
          <p:cNvSpPr/>
          <p:nvPr>
            <p:custDataLst>
              <p:tags r:id="rId5"/>
            </p:custDataLst>
          </p:nvPr>
        </p:nvSpPr>
        <p:spPr>
          <a:xfrm>
            <a:off x="5588000" y="1651000"/>
            <a:ext cx="584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000" y="1841500"/>
            <a:ext cx="355600" cy="355600"/>
          </a:xfrm>
          <a:prstGeom prst="rect">
            <a:avLst/>
          </a:prstGeom>
        </p:spPr>
      </p:pic>
      <p:sp>
        <p:nvSpPr>
          <p:cNvPr id="9" name="AutoShape 7"/>
          <p:cNvSpPr/>
          <p:nvPr>
            <p:custDataLst>
              <p:tags r:id="rId8"/>
            </p:custDataLst>
          </p:nvPr>
        </p:nvSpPr>
        <p:spPr>
          <a:xfrm>
            <a:off x="6286500" y="1803400"/>
            <a:ext cx="495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治疗目的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8"/>
          <p:cNvSpPr/>
          <p:nvPr>
            <p:custDataLst>
              <p:tags r:id="rId9"/>
            </p:custDataLst>
          </p:nvPr>
        </p:nvSpPr>
        <p:spPr>
          <a:xfrm>
            <a:off x="5842000" y="2222500"/>
            <a:ext cx="533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刺激患侧本体感觉，抑制痉挛，防止关节挛缩和肩痛</a:t>
            </a: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>
            <p:custDataLst>
              <p:tags r:id="rId10"/>
            </p:custDataLst>
          </p:nvPr>
        </p:nvSpPr>
        <p:spPr>
          <a:xfrm>
            <a:off x="5588000" y="3238500"/>
            <a:ext cx="5842000" cy="2793365"/>
          </a:xfrm>
          <a:prstGeom prst="roundRect">
            <a:avLst>
              <a:gd name="adj" fmla="val 425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42000" y="3429000"/>
            <a:ext cx="355600" cy="355600"/>
          </a:xfrm>
          <a:prstGeom prst="rect">
            <a:avLst/>
          </a:prstGeom>
        </p:spPr>
      </p:pic>
      <p:sp>
        <p:nvSpPr>
          <p:cNvPr id="14" name="AutoShape 11"/>
          <p:cNvSpPr/>
          <p:nvPr>
            <p:custDataLst>
              <p:tags r:id="rId13"/>
            </p:custDataLst>
          </p:nvPr>
        </p:nvSpPr>
        <p:spPr>
          <a:xfrm>
            <a:off x="6286500" y="3390900"/>
            <a:ext cx="495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标准操作步骤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42000" y="3911600"/>
            <a:ext cx="254000" cy="254000"/>
          </a:xfrm>
          <a:prstGeom prst="rect">
            <a:avLst/>
          </a:prstGeom>
        </p:spPr>
      </p:pic>
      <p:sp>
        <p:nvSpPr>
          <p:cNvPr id="16" name="AutoShape 13"/>
          <p:cNvSpPr/>
          <p:nvPr>
            <p:custDataLst>
              <p:tags r:id="rId16"/>
            </p:custDataLst>
          </p:nvPr>
        </p:nvSpPr>
        <p:spPr>
          <a:xfrm>
            <a:off x="6159500" y="3873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头部垫枕，背部放枕支撑，躯干稍后仰。</a:t>
            </a:r>
            <a:endParaRPr lang="en-US" sz="16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42000" y="4419600"/>
            <a:ext cx="254000" cy="254000"/>
          </a:xfrm>
          <a:prstGeom prst="rect">
            <a:avLst/>
          </a:prstGeom>
        </p:spPr>
      </p:pic>
      <p:sp>
        <p:nvSpPr>
          <p:cNvPr id="18" name="AutoShape 15"/>
          <p:cNvSpPr/>
          <p:nvPr>
            <p:custDataLst>
              <p:tags r:id="rId18"/>
            </p:custDataLst>
          </p:nvPr>
        </p:nvSpPr>
        <p:spPr>
          <a:xfrm>
            <a:off x="6159500" y="4381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患臂前伸，肩部上提，前臂外旋，肘伸直，手指伸展。</a:t>
            </a:r>
            <a:endParaRPr lang="en-US" sz="16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42000" y="4927600"/>
            <a:ext cx="254000" cy="254000"/>
          </a:xfrm>
          <a:prstGeom prst="rect">
            <a:avLst/>
          </a:prstGeom>
        </p:spPr>
      </p:pic>
      <p:sp>
        <p:nvSpPr>
          <p:cNvPr id="20" name="AutoShape 17"/>
          <p:cNvSpPr/>
          <p:nvPr>
            <p:custDataLst>
              <p:tags r:id="rId20"/>
            </p:custDataLst>
          </p:nvPr>
        </p:nvSpPr>
        <p:spPr>
          <a:xfrm>
            <a:off x="6159500" y="4889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患侧髋伸展，膝微屈，踝关节保持90°。</a:t>
            </a:r>
            <a:endParaRPr lang="en-US" sz="16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307" name="图片 307" descr="b9b126a561b0ae87997f60ca3f005dc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3553460" y="4220210"/>
            <a:ext cx="2034540" cy="1812290"/>
          </a:xfrm>
          <a:prstGeom prst="rect">
            <a:avLst/>
          </a:prstGeom>
        </p:spPr>
      </p:pic>
      <p:sp>
        <p:nvSpPr>
          <p:cNvPr id="21" name="矩形标注 20"/>
          <p:cNvSpPr/>
          <p:nvPr>
            <p:custDataLst>
              <p:tags r:id="rId23"/>
            </p:custDataLst>
          </p:nvPr>
        </p:nvSpPr>
        <p:spPr>
          <a:xfrm>
            <a:off x="3792855" y="2040890"/>
            <a:ext cx="1365250" cy="1998345"/>
          </a:xfrm>
          <a:prstGeom prst="wedgeRectCallou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脑卒中偏瘫患者良肢位摆放</a:t>
            </a:r>
            <a:r>
              <a:rPr lang="en-US" altLang="zh-CN" b="1">
                <a:solidFill>
                  <a:schemeClr val="tx1"/>
                </a:solidFill>
              </a:rPr>
              <a:t>        </a:t>
            </a:r>
            <a:r>
              <a:rPr lang="zh-CN" altLang="en-US" b="1">
                <a:solidFill>
                  <a:schemeClr val="tx1"/>
                </a:solidFill>
              </a:rPr>
              <a:t>教学视频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r>
              <a:rPr lang="zh-CN" altLang="en-US" b="1">
                <a:solidFill>
                  <a:schemeClr val="tx1"/>
                </a:solidFill>
              </a:rPr>
              <a:t>二维码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2"/>
          <p:cNvSpPr/>
          <p:nvPr>
            <p:custDataLst>
              <p:tags r:id="rId1"/>
            </p:custDataLst>
          </p:nvPr>
        </p:nvSpPr>
        <p:spPr>
          <a:xfrm>
            <a:off x="762000" y="787400"/>
            <a:ext cx="6597650" cy="610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仰卧位：保护关节，预防畸形</a:t>
            </a:r>
            <a:endParaRPr lang="en-US" sz="3200" b="1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4437" b="14437"/>
          <a:stretch>
            <a:fillRect/>
          </a:stretch>
        </p:blipFill>
        <p:spPr>
          <a:xfrm>
            <a:off x="762000" y="1778000"/>
            <a:ext cx="4064000" cy="3783965"/>
          </a:xfrm>
          <a:prstGeom prst="roundRect">
            <a:avLst>
              <a:gd name="adj" fmla="val 312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4"/>
          <p:cNvSpPr/>
          <p:nvPr>
            <p:custDataLst>
              <p:tags r:id="rId4"/>
            </p:custDataLst>
          </p:nvPr>
        </p:nvSpPr>
        <p:spPr>
          <a:xfrm>
            <a:off x="5207000" y="1778000"/>
            <a:ext cx="6223000" cy="101600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 cap="flat" cmpd="sng">
            <a:solidFill>
              <a:schemeClr val="accent2">
                <a:alpha val="1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7500" y="1968500"/>
            <a:ext cx="304800" cy="304800"/>
          </a:xfrm>
          <a:prstGeom prst="rect">
            <a:avLst/>
          </a:prstGeom>
        </p:spPr>
      </p:pic>
      <p:sp>
        <p:nvSpPr>
          <p:cNvPr id="8" name="AutoShape 6"/>
          <p:cNvSpPr/>
          <p:nvPr>
            <p:custDataLst>
              <p:tags r:id="rId7"/>
            </p:custDataLst>
          </p:nvPr>
        </p:nvSpPr>
        <p:spPr>
          <a:xfrm>
            <a:off x="5778500" y="1930400"/>
            <a:ext cx="5461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注意事项：</a:t>
            </a:r>
            <a:endParaRPr lang="en-US" sz="1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不当的仰卧位会加剧痉挛，需严格规范操作。</a:t>
            </a:r>
            <a:endParaRPr lang="en-US" sz="14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7"/>
          <p:cNvSpPr/>
          <p:nvPr>
            <p:custDataLst>
              <p:tags r:id="rId8"/>
            </p:custDataLst>
          </p:nvPr>
        </p:nvSpPr>
        <p:spPr>
          <a:xfrm>
            <a:off x="5207000" y="29845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cs typeface="Noto Sans SC" panose="020B0200000000000000" charset="-122"/>
                <a:sym typeface="Noto Sans SC" panose="020B0200000000000000" charset="-122"/>
              </a:rPr>
              <a:t>标准操作步骤</a:t>
            </a:r>
            <a:endParaRPr lang="en-US" sz="1800" b="1" i="0" u="none" strike="noStrike">
              <a:solidFill>
                <a:schemeClr val="accent1">
                  <a:lumMod val="50000"/>
                  <a:hueOff val="10800000"/>
                </a:schemeClr>
              </a:solidFill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8"/>
          <p:cNvCxnSpPr/>
          <p:nvPr/>
        </p:nvCxnSpPr>
        <p:spPr>
          <a:xfrm rot="-7015">
            <a:off x="5207006" y="3359150"/>
            <a:ext cx="6223000" cy="12700"/>
          </a:xfrm>
          <a:prstGeom prst="straightConnector1">
            <a:avLst/>
          </a:prstGeom>
          <a:solidFill>
            <a:schemeClr val="accent3">
              <a:alpha val="100000"/>
            </a:schemeClr>
          </a:solidFill>
          <a:ln w="12700" cap="flat" cmpd="sng">
            <a:solidFill>
              <a:schemeClr val="accent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07000" y="3556000"/>
            <a:ext cx="304800" cy="304800"/>
          </a:xfrm>
          <a:prstGeom prst="rect">
            <a:avLst/>
          </a:prstGeom>
        </p:spPr>
      </p:pic>
      <p:sp>
        <p:nvSpPr>
          <p:cNvPr id="13" name="AutoShape 10"/>
          <p:cNvSpPr/>
          <p:nvPr>
            <p:custDataLst>
              <p:tags r:id="rId12"/>
            </p:custDataLst>
          </p:nvPr>
        </p:nvSpPr>
        <p:spPr>
          <a:xfrm>
            <a:off x="5588000" y="3530600"/>
            <a:ext cx="584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头部护理：</a:t>
            </a:r>
            <a:r>
              <a:rPr lang="en-US" sz="14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头部垫枕，避免颈部过度伸展或屈曲。</a:t>
            </a:r>
            <a:endParaRPr lang="en-US" sz="14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07000" y="4254500"/>
            <a:ext cx="304800" cy="304800"/>
          </a:xfrm>
          <a:prstGeom prst="rect">
            <a:avLst/>
          </a:prstGeom>
        </p:spPr>
      </p:pic>
      <p:sp>
        <p:nvSpPr>
          <p:cNvPr id="15" name="AutoShape 12"/>
          <p:cNvSpPr/>
          <p:nvPr>
            <p:custDataLst>
              <p:tags r:id="rId16"/>
            </p:custDataLst>
          </p:nvPr>
        </p:nvSpPr>
        <p:spPr>
          <a:xfrm>
            <a:off x="5588000" y="4229100"/>
            <a:ext cx="584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上肢摆放：</a:t>
            </a:r>
            <a:r>
              <a:rPr lang="en-US" sz="14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患肩下垫枕与健侧同高，患臂外旋伸展，拇指外展。</a:t>
            </a:r>
            <a:endParaRPr lang="en-US" sz="14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07000" y="4953000"/>
            <a:ext cx="304800" cy="304800"/>
          </a:xfrm>
          <a:prstGeom prst="rect">
            <a:avLst/>
          </a:prstGeom>
        </p:spPr>
      </p:pic>
      <p:sp>
        <p:nvSpPr>
          <p:cNvPr id="17" name="AutoShape 14"/>
          <p:cNvSpPr/>
          <p:nvPr>
            <p:custDataLst>
              <p:tags r:id="rId20"/>
            </p:custDataLst>
          </p:nvPr>
        </p:nvSpPr>
        <p:spPr>
          <a:xfrm>
            <a:off x="5588000" y="4927600"/>
            <a:ext cx="584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下肢摆放：</a:t>
            </a:r>
            <a:r>
              <a:rPr lang="en-US" sz="1400" b="0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患侧臀部下垫枕，髋保持中立，膝微屈，踝关节90°。</a:t>
            </a:r>
            <a:endParaRPr lang="en-US" sz="1400" b="0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2"/>
          <p:cNvSpPr/>
          <p:nvPr>
            <p:custDataLst>
              <p:tags r:id="rId1"/>
            </p:custDataLst>
          </p:nvPr>
        </p:nvSpPr>
        <p:spPr>
          <a:xfrm>
            <a:off x="762000" y="885190"/>
            <a:ext cx="6286500" cy="7016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健侧卧位：保护患侧肩部</a:t>
            </a:r>
            <a:endParaRPr lang="en-US" sz="3200" b="1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5049" b="15049"/>
          <a:stretch>
            <a:fillRect/>
          </a:stretch>
        </p:blipFill>
        <p:spPr>
          <a:xfrm>
            <a:off x="762000" y="1651000"/>
            <a:ext cx="4826000" cy="4318000"/>
          </a:xfrm>
          <a:prstGeom prst="roundRect">
            <a:avLst>
              <a:gd name="adj" fmla="val 294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4"/>
          <p:cNvSpPr/>
          <p:nvPr>
            <p:custDataLst>
              <p:tags r:id="rId4"/>
            </p:custDataLst>
          </p:nvPr>
        </p:nvSpPr>
        <p:spPr>
          <a:xfrm>
            <a:off x="5969000" y="1651000"/>
            <a:ext cx="5461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85000"/>
            </a:srgbClr>
          </a:solidFill>
          <a:ln cap="flat" cmpd="sng">
            <a:solidFill>
              <a:schemeClr val="accent4">
                <a:alpha val="85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1905000"/>
            <a:ext cx="304800" cy="304800"/>
          </a:xfrm>
          <a:prstGeom prst="rect">
            <a:avLst/>
          </a:prstGeom>
        </p:spPr>
      </p:pic>
      <p:sp>
        <p:nvSpPr>
          <p:cNvPr id="8" name="AutoShape 6"/>
          <p:cNvSpPr/>
          <p:nvPr>
            <p:custDataLst>
              <p:tags r:id="rId7"/>
            </p:custDataLst>
          </p:nvPr>
        </p:nvSpPr>
        <p:spPr>
          <a:xfrm>
            <a:off x="6604000" y="1879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核心目的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7"/>
          <p:cNvSpPr/>
          <p:nvPr>
            <p:custDataLst>
              <p:tags r:id="rId8"/>
            </p:custDataLst>
          </p:nvPr>
        </p:nvSpPr>
        <p:spPr>
          <a:xfrm>
            <a:off x="6223000" y="2286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防止患侧肩部受压，降低肩关节半脱位及疼痛风险。</a:t>
            </a:r>
            <a:endParaRPr lang="en-US" sz="16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8"/>
          <p:cNvCxnSpPr/>
          <p:nvPr/>
        </p:nvCxnSpPr>
        <p:spPr>
          <a:xfrm rot="-8814">
            <a:off x="6223008" y="2851150"/>
            <a:ext cx="4953000" cy="12700"/>
          </a:xfrm>
          <a:prstGeom prst="straightConnector1">
            <a:avLst/>
          </a:prstGeom>
          <a:solidFill>
            <a:schemeClr val="accent5">
              <a:alpha val="100000"/>
            </a:schemeClr>
          </a:solidFill>
          <a:ln w="12700" cap="flat" cmpd="sng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3000" y="3048000"/>
            <a:ext cx="304800" cy="304800"/>
          </a:xfrm>
          <a:prstGeom prst="rect">
            <a:avLst/>
          </a:prstGeom>
        </p:spPr>
      </p:pic>
      <p:sp>
        <p:nvSpPr>
          <p:cNvPr id="13" name="AutoShape 10"/>
          <p:cNvSpPr/>
          <p:nvPr>
            <p:custDataLst>
              <p:tags r:id="rId11"/>
            </p:custDataLst>
          </p:nvPr>
        </p:nvSpPr>
        <p:spPr>
          <a:xfrm>
            <a:off x="6604000" y="3022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标准操作步骤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23000" y="3492500"/>
            <a:ext cx="254000" cy="254000"/>
          </a:xfrm>
          <a:prstGeom prst="rect">
            <a:avLst/>
          </a:prstGeom>
        </p:spPr>
      </p:pic>
      <p:sp>
        <p:nvSpPr>
          <p:cNvPr id="15" name="AutoShape 12"/>
          <p:cNvSpPr/>
          <p:nvPr>
            <p:custDataLst>
              <p:tags r:id="rId14"/>
            </p:custDataLst>
          </p:nvPr>
        </p:nvSpPr>
        <p:spPr>
          <a:xfrm>
            <a:off x="6540500" y="34671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躯干与上肢：</a:t>
            </a:r>
            <a:r>
              <a:rPr lang="en-US" sz="14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躯干与床面垂直，患臂前伸放于胸前枕上（肩前屈约100°）。</a:t>
            </a:r>
            <a:endParaRPr lang="en-US" sz="14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23000" y="4064000"/>
            <a:ext cx="254000" cy="254000"/>
          </a:xfrm>
          <a:prstGeom prst="rect">
            <a:avLst/>
          </a:prstGeom>
        </p:spPr>
      </p:pic>
      <p:sp>
        <p:nvSpPr>
          <p:cNvPr id="17" name="AutoShape 14"/>
          <p:cNvSpPr/>
          <p:nvPr>
            <p:custDataLst>
              <p:tags r:id="rId17"/>
            </p:custDataLst>
          </p:nvPr>
        </p:nvSpPr>
        <p:spPr>
          <a:xfrm>
            <a:off x="6540500" y="40386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手部细节：</a:t>
            </a:r>
            <a:r>
              <a:rPr lang="en-US" sz="14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患侧腕关节保持背伸，手指自然伸直，避免屈曲挛缩。</a:t>
            </a:r>
            <a:endParaRPr lang="en-US" sz="14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23000" y="4635500"/>
            <a:ext cx="254000" cy="254000"/>
          </a:xfrm>
          <a:prstGeom prst="rect">
            <a:avLst/>
          </a:prstGeom>
        </p:spPr>
      </p:pic>
      <p:sp>
        <p:nvSpPr>
          <p:cNvPr id="19" name="AutoShape 16"/>
          <p:cNvSpPr/>
          <p:nvPr>
            <p:custDataLst>
              <p:tags r:id="rId20"/>
            </p:custDataLst>
          </p:nvPr>
        </p:nvSpPr>
        <p:spPr>
          <a:xfrm>
            <a:off x="6540500" y="46101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下肢摆放：</a:t>
            </a:r>
            <a:r>
              <a:rPr lang="en-US" sz="1400" b="0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患侧下肢屈曲放于枕上，保持踝关节中立位，防止内翻。</a:t>
            </a:r>
            <a:endParaRPr lang="en-US" sz="1400" b="0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889000" y="926465"/>
            <a:ext cx="5588000" cy="535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床上坐位：保持躯干直立</a:t>
            </a:r>
            <a:endParaRPr lang="en-US" sz="32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3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58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6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4016" r="14016"/>
          <a:stretch>
            <a:fillRect/>
          </a:stretch>
        </p:blipFill>
        <p:spPr>
          <a:xfrm>
            <a:off x="889000" y="1778000"/>
            <a:ext cx="5334000" cy="381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1714500"/>
            <a:ext cx="304800" cy="304800"/>
          </a:xfrm>
          <a:prstGeom prst="rect">
            <a:avLst/>
          </a:prstGeom>
        </p:spPr>
      </p:pic>
      <p:sp>
        <p:nvSpPr>
          <p:cNvPr id="8" name="AutoShape 6"/>
          <p:cNvSpPr/>
          <p:nvPr>
            <p:custDataLst>
              <p:tags r:id="rId8"/>
            </p:custDataLst>
          </p:nvPr>
        </p:nvSpPr>
        <p:spPr>
          <a:xfrm>
            <a:off x="7112000" y="167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标准操作步骤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7"/>
          <p:cNvCxnSpPr/>
          <p:nvPr/>
        </p:nvCxnSpPr>
        <p:spPr>
          <a:xfrm rot="-9291">
            <a:off x="6731009" y="2089150"/>
            <a:ext cx="4699000" cy="12700"/>
          </a:xfrm>
          <a:prstGeom prst="straightConnector1">
            <a:avLst/>
          </a:prstGeom>
          <a:solidFill>
            <a:schemeClr val="accent3">
              <a:alpha val="100000"/>
            </a:schemeClr>
          </a:solidFill>
          <a:ln w="12700" cap="flat" cmpd="sng">
            <a:solidFill>
              <a:schemeClr val="accent2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8"/>
          <p:cNvSpPr/>
          <p:nvPr/>
        </p:nvSpPr>
        <p:spPr>
          <a:xfrm>
            <a:off x="6731000" y="2171700"/>
            <a:ext cx="4699000" cy="889000"/>
          </a:xfrm>
          <a:prstGeom prst="roundRect">
            <a:avLst>
              <a:gd name="adj" fmla="val 7142"/>
            </a:avLst>
          </a:prstGeom>
          <a:solidFill>
            <a:srgbClr val="F5F5F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AutoShape 9"/>
          <p:cNvSpPr/>
          <p:nvPr>
            <p:custDataLst>
              <p:tags r:id="rId9"/>
            </p:custDataLst>
          </p:nvPr>
        </p:nvSpPr>
        <p:spPr>
          <a:xfrm>
            <a:off x="6858000" y="2311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  <a:hueOff val="96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躯干与上肢：</a:t>
            </a:r>
            <a:r>
              <a:rPr lang="en-US" sz="1400" b="0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保持直立，髋屈曲90°，前臂下垫枕至腋下，预防肩关节脱位。</a:t>
            </a:r>
            <a:endParaRPr lang="en-US" sz="1400" b="0" i="0" u="none" strike="noStrike">
              <a:solidFill>
                <a:schemeClr val="accent1">
                  <a:lumMod val="50000"/>
                  <a:hueOff val="108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2" name="AutoShape 10"/>
          <p:cNvSpPr/>
          <p:nvPr/>
        </p:nvSpPr>
        <p:spPr>
          <a:xfrm>
            <a:off x="6731000" y="3175000"/>
            <a:ext cx="4699000" cy="889000"/>
          </a:xfrm>
          <a:prstGeom prst="roundRect">
            <a:avLst>
              <a:gd name="adj" fmla="val 7142"/>
            </a:avLst>
          </a:prstGeom>
          <a:solidFill>
            <a:srgbClr val="F5F5F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" name="AutoShape 11"/>
          <p:cNvSpPr/>
          <p:nvPr>
            <p:custDataLst>
              <p:tags r:id="rId10"/>
            </p:custDataLst>
          </p:nvPr>
        </p:nvSpPr>
        <p:spPr>
          <a:xfrm>
            <a:off x="6858000" y="32639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  <a:hueOff val="96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下肢摆放：</a:t>
            </a:r>
            <a:r>
              <a:rPr lang="en-US" sz="1400" b="0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双膝屈曲50°-60°，使膝关节微曲，防止膝过伸。</a:t>
            </a:r>
            <a:endParaRPr lang="en-US" sz="1400" b="0" i="0" u="none" strike="noStrike">
              <a:solidFill>
                <a:schemeClr val="accent1">
                  <a:lumMod val="50000"/>
                  <a:hueOff val="108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pic>
        <p:nvPicPr>
          <p:cNvPr id="14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1000" y="4254500"/>
            <a:ext cx="304800" cy="304800"/>
          </a:xfrm>
          <a:prstGeom prst="rect">
            <a:avLst/>
          </a:prstGeom>
        </p:spPr>
      </p:pic>
      <p:sp>
        <p:nvSpPr>
          <p:cNvPr id="15" name="AutoShape 13"/>
          <p:cNvSpPr/>
          <p:nvPr>
            <p:custDataLst>
              <p:tags r:id="rId14"/>
            </p:custDataLst>
          </p:nvPr>
        </p:nvSpPr>
        <p:spPr>
          <a:xfrm>
            <a:off x="71120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重要注意事项</a:t>
            </a:r>
            <a:endParaRPr lang="en-US" sz="2000" b="1" i="0" u="none" strike="noStrike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4"/>
          <p:cNvCxnSpPr/>
          <p:nvPr/>
        </p:nvCxnSpPr>
        <p:spPr>
          <a:xfrm rot="-9291">
            <a:off x="6731009" y="4629150"/>
            <a:ext cx="4699000" cy="12700"/>
          </a:xfrm>
          <a:prstGeom prst="straightConnector1">
            <a:avLst/>
          </a:prstGeom>
          <a:solidFill>
            <a:schemeClr val="accent3">
              <a:alpha val="100000"/>
            </a:schemeClr>
          </a:solidFill>
          <a:ln w="12700" cap="flat" cmpd="sng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5"/>
          <p:cNvSpPr/>
          <p:nvPr>
            <p:custDataLst>
              <p:tags r:id="rId15"/>
            </p:custDataLst>
          </p:nvPr>
        </p:nvSpPr>
        <p:spPr>
          <a:xfrm>
            <a:off x="6731000" y="4762500"/>
            <a:ext cx="4699000" cy="952500"/>
          </a:xfrm>
          <a:prstGeom prst="roundRect">
            <a:avLst>
              <a:gd name="adj" fmla="val 6666"/>
            </a:avLst>
          </a:prstGeom>
          <a:solidFill>
            <a:schemeClr val="accent5">
              <a:alpha val="60000"/>
            </a:schemeClr>
          </a:solidFill>
          <a:ln w="12700" cap="flat" cmpd="sng">
            <a:solidFill>
              <a:schemeClr val="accent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AutoShape 16"/>
          <p:cNvSpPr/>
          <p:nvPr>
            <p:custDataLst>
              <p:tags r:id="rId16"/>
            </p:custDataLst>
          </p:nvPr>
        </p:nvSpPr>
        <p:spPr>
          <a:xfrm>
            <a:off x="6858000" y="48514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50000"/>
                    <a:hueOff val="96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禁忌动作：</a:t>
            </a:r>
            <a:r>
              <a:rPr lang="en-US" sz="1400" b="0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足底不放任何东西，防止引起痉挛模式的出现。</a:t>
            </a:r>
            <a:endParaRPr lang="en-US" sz="1400" b="0" i="0" u="none" strike="noStrike">
              <a:solidFill>
                <a:schemeClr val="accent1">
                  <a:lumMod val="50000"/>
                  <a:hueOff val="108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>
            <p:custDataLst>
              <p:tags r:id="rId1"/>
            </p:custDataLst>
          </p:nvPr>
        </p:nvSpPr>
        <p:spPr>
          <a:xfrm>
            <a:off x="762000" y="1016000"/>
            <a:ext cx="712914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轮椅坐位：尽早过渡，最佳体位</a:t>
            </a:r>
            <a:endParaRPr lang="en-US" sz="3200" b="1" i="0" u="none" strike="noStrike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3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chemeClr val="accent2">
                <a:alpha val="90000"/>
              </a:scheme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6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8142" r="18142"/>
          <a:stretch>
            <a:fillRect/>
          </a:stretch>
        </p:blipFill>
        <p:spPr>
          <a:xfrm>
            <a:off x="1016000" y="1905000"/>
            <a:ext cx="4572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5"/>
          <p:cNvSpPr/>
          <p:nvPr>
            <p:custDataLst>
              <p:tags r:id="rId5"/>
            </p:custDataLst>
          </p:nvPr>
        </p:nvSpPr>
        <p:spPr>
          <a:xfrm>
            <a:off x="6096000" y="165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chemeClr val="accent2">
                <a:alpha val="90000"/>
              </a:scheme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8" name="Picture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1841500"/>
            <a:ext cx="355600" cy="355600"/>
          </a:xfrm>
          <a:prstGeom prst="rect">
            <a:avLst/>
          </a:prstGeom>
        </p:spPr>
      </p:pic>
      <p:sp>
        <p:nvSpPr>
          <p:cNvPr id="9" name="AutoShape 7"/>
          <p:cNvSpPr/>
          <p:nvPr>
            <p:custDataLst>
              <p:tags r:id="rId9"/>
            </p:custDataLst>
          </p:nvPr>
        </p:nvSpPr>
        <p:spPr>
          <a:xfrm>
            <a:off x="6794500" y="18034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50000"/>
                    <a:hueOff val="96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康复目的</a:t>
            </a:r>
            <a:endParaRPr lang="en-US" sz="1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病情允许时尽早过渡，是意识清醒患者的最佳体位，利于参与康复。</a:t>
            </a:r>
            <a:endParaRPr lang="en-US" sz="1400" b="0" i="0" u="none" strike="noStrike">
              <a:solidFill>
                <a:schemeClr val="accent1">
                  <a:lumMod val="50000"/>
                  <a:hueOff val="108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8"/>
          <p:cNvSpPr/>
          <p:nvPr>
            <p:custDataLst>
              <p:tags r:id="rId10"/>
            </p:custDataLst>
          </p:nvPr>
        </p:nvSpPr>
        <p:spPr>
          <a:xfrm>
            <a:off x="6096000" y="2984500"/>
            <a:ext cx="5334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cap="flat" cmpd="sng">
            <a:solidFill>
              <a:schemeClr val="accent2">
                <a:alpha val="90000"/>
              </a:scheme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1" name="Picture 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0" y="3175000"/>
            <a:ext cx="355600" cy="355600"/>
          </a:xfrm>
          <a:prstGeom prst="rect">
            <a:avLst/>
          </a:prstGeom>
        </p:spPr>
      </p:pic>
      <p:sp>
        <p:nvSpPr>
          <p:cNvPr id="12" name="AutoShape 10"/>
          <p:cNvSpPr/>
          <p:nvPr>
            <p:custDataLst>
              <p:tags r:id="rId14"/>
            </p:custDataLst>
          </p:nvPr>
        </p:nvSpPr>
        <p:spPr>
          <a:xfrm>
            <a:off x="6794500" y="31369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50000"/>
                    <a:hueOff val="96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关键操作步骤</a:t>
            </a:r>
            <a:endParaRPr lang="en-US" sz="11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607D8B"/>
              </a:buClr>
              <a:buChar char="•"/>
            </a:pPr>
            <a:r>
              <a:rPr lang="en-US" sz="1400" b="0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保持直立坐姿，髋部屈曲90°，双脚平放。</a:t>
            </a:r>
            <a:endParaRPr lang="en-US" sz="1400" b="0" i="0" u="none" strike="noStrike">
              <a:solidFill>
                <a:schemeClr val="accent1">
                  <a:lumMod val="50000"/>
                  <a:hueOff val="108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607D8B"/>
              </a:buClr>
              <a:buChar char="•"/>
            </a:pPr>
            <a:r>
              <a:rPr lang="en-US" sz="1400" b="0" i="0" u="none" strike="noStrike">
                <a:solidFill>
                  <a:schemeClr val="accent1">
                    <a:lumMod val="50000"/>
                    <a:hueOff val="108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前臂下垫软枕至腋下，有效预防肩关节脱位。</a:t>
            </a:r>
            <a:endParaRPr lang="en-US" sz="1400" b="0" i="0" u="none" strike="noStrike">
              <a:solidFill>
                <a:schemeClr val="accent1">
                  <a:lumMod val="50000"/>
                  <a:hueOff val="108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3" name="AutoShape 11"/>
          <p:cNvSpPr/>
          <p:nvPr>
            <p:custDataLst>
              <p:tags r:id="rId15"/>
            </p:custDataLst>
          </p:nvPr>
        </p:nvSpPr>
        <p:spPr>
          <a:xfrm>
            <a:off x="6096000" y="4826000"/>
            <a:ext cx="5334000" cy="889000"/>
          </a:xfrm>
          <a:prstGeom prst="roundRect">
            <a:avLst>
              <a:gd name="adj" fmla="val 14285"/>
            </a:avLst>
          </a:prstGeom>
          <a:solidFill>
            <a:schemeClr val="accent5">
              <a:alpha val="90000"/>
            </a:schemeClr>
          </a:solidFill>
          <a:ln cap="flat" cmpd="sng">
            <a:solidFill>
              <a:schemeClr val="accent6">
                <a:alpha val="90000"/>
              </a:scheme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4" name="Picture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0000" y="5016500"/>
            <a:ext cx="355600" cy="355600"/>
          </a:xfrm>
          <a:prstGeom prst="rect">
            <a:avLst/>
          </a:prstGeom>
        </p:spPr>
      </p:pic>
      <p:sp>
        <p:nvSpPr>
          <p:cNvPr id="15" name="AutoShape 13"/>
          <p:cNvSpPr/>
          <p:nvPr>
            <p:custDataLst>
              <p:tags r:id="rId19"/>
            </p:custDataLst>
          </p:nvPr>
        </p:nvSpPr>
        <p:spPr>
          <a:xfrm>
            <a:off x="6794500" y="49784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5">
                    <a:lumMod val="50000"/>
                    <a:hueOff val="108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安全第一：务必系好安全带！</a:t>
            </a:r>
            <a:endParaRPr lang="en-US" sz="1800" b="1" i="0" u="none" strike="noStrike">
              <a:solidFill>
                <a:schemeClr val="accent5">
                  <a:lumMod val="50000"/>
                  <a:hueOff val="108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1883410" y="723504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对策</a:t>
            </a:r>
            <a:r>
              <a:rPr lang="zh-CN" altLang="en-US">
                <a:cs typeface="Arial" panose="020B0604020202020204" pitchFamily="34" charset="0"/>
              </a:rPr>
              <a:t>实施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820814" y="1415129"/>
          <a:ext cx="822960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130"/>
                <a:gridCol w="1794510"/>
                <a:gridCol w="4886960"/>
              </a:tblGrid>
              <a:tr h="38100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对策一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对策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名称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建立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医护一体化协助模式，并组织操作理论培训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主要因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护士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知识掌握不到位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1820772" y="2333619"/>
          <a:ext cx="8229600" cy="30919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3088"/>
                <a:gridCol w="3286512"/>
              </a:tblGrid>
              <a:tr h="1968642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改善前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护士知识掌握不到位	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对策内容：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建立信息平台一体化协助模式，启用“康复数字化管理系统”，实现医护治三方协同管理患者体位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组织全科护理培训，确保每位护士掌握脑卒中偏瘫患者良肢位摆放规范。	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护士依据评估结果，为患者提供个性化良肢位摆放指导。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对策实施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实施人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于东梅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实施时间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6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.20-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7.10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实施地点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脑二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科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实施措施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①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与患者家属讨论，共同制定个性化良肢位摆放策略。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②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组织培训，建立考核制度。</a:t>
                      </a:r>
                      <a:endParaRPr lang="en-US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11233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对策处理：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经效果确认为有效对策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将上述规范列入各组职责中。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效果：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通过对策的实施，有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效的提升了护士知识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掌握率由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65.00%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提升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到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85.00%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10049856" y="4404060"/>
          <a:ext cx="2124364" cy="1994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1981200" y="96797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对策</a:t>
            </a:r>
            <a:r>
              <a:rPr lang="zh-CN" altLang="en-US">
                <a:cs typeface="Arial" panose="020B0604020202020204" pitchFamily="34" charset="0"/>
              </a:rPr>
              <a:t>实施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981200" y="1657350"/>
          <a:ext cx="8229600" cy="836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130"/>
                <a:gridCol w="1794510"/>
                <a:gridCol w="4886960"/>
              </a:tblGrid>
              <a:tr h="47307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对策二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对策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名称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全面动态评估患者肢体功能情况，建立规范的良肢位摆放流程指引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220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主要因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缺乏规范流程指引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1981200" y="2613025"/>
          <a:ext cx="8229600" cy="28951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2840"/>
                <a:gridCol w="3286760"/>
              </a:tblGrid>
              <a:tr h="1968642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改善前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缺乏规范流程指引	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对策内容：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推行良肢位摆放方法，由管床护士随机抽查，确保患者摆放落实。	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通过全面动态评估，指导培训家属方法，并进行现场评估。	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3.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根据患者偏瘫程度，采取分类</a:t>
                      </a:r>
                      <a:r>
                        <a:rPr 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良肢位摆放策略</a:t>
                      </a:r>
                      <a:endParaRPr 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对策实施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实施人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于东梅</a:t>
                      </a:r>
                      <a:r>
                        <a:rPr lang="zh-CN" altLang="en-US" sz="14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施时间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7.10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-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7.30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实施地点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脑二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科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 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实施措施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①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制定偏瘫患者管理流程，及管理制度。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②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制定规范流程，并培训操作。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endParaRPr lang="en-US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9264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对策处理：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经效果确认为有效对策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将上述规范列入各组职责中。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效果：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通过对策的实施，有效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的提升了流程规范率由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6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.00%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提升到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9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.00%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10210511" y="4579955"/>
          <a:ext cx="2124364" cy="1994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1805305" y="557769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对策</a:t>
            </a:r>
            <a:r>
              <a:rPr lang="zh-CN" altLang="en-US">
                <a:cs typeface="Arial" panose="020B0604020202020204" pitchFamily="34" charset="0"/>
              </a:rPr>
              <a:t>实施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805305" y="1323975"/>
          <a:ext cx="8229600" cy="836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130"/>
                <a:gridCol w="1794510"/>
                <a:gridCol w="4886960"/>
              </a:tblGrid>
              <a:tr h="47307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对策三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对策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名称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开展宣教大讲学，使用模具使患者更直观理解良肢位摆放重要性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3220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主要因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宣教效果不佳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1805305" y="2380615"/>
          <a:ext cx="8229600" cy="30919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2840"/>
                <a:gridCol w="3286760"/>
              </a:tblGrid>
              <a:tr h="1968642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	改善前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宣教效果不佳		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对患者进行同伴教育和危机教育，组织病友会活动，鼓励患者分享自身的良肢位摆放经效果和心得，以增强其康复信念井提高警惕，预防肢体痿废不用事件的发生。		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在病房内设立展示板，通过直观展示指导患者正确肢体摆放，提升患者的康复意识和实践能力。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对策实施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实施人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于东梅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实施时间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:8.20-9.20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实施地点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脑二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科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实施措施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: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①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与患者讨论，引导患者共同参与设计宣教手册。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②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制作宣教视频，滚动播放。</a:t>
                      </a:r>
                      <a:endParaRPr lang="en-US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  <a:tr h="11233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对策处理：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1.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经效果确认为有效对策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2.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将上述规范列入各组职责中。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对策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效果：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通过对策的实施，有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效的提升了宣教知晓率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由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7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0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.00%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提升到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8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5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.00%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。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10067636" y="4683460"/>
          <a:ext cx="2124364" cy="1994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48460" y="2199005"/>
            <a:ext cx="8876665" cy="1508125"/>
          </a:xfrm>
        </p:spPr>
        <p:txBody>
          <a:bodyPr>
            <a:normAutofit/>
          </a:bodyPr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品管圈护理措施及创新点</a:t>
            </a:r>
            <a:endParaRPr lang="zh-CN" altLang="en-US" sz="4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255635" y="4431030"/>
            <a:ext cx="2981960" cy="14268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建立与良肢位摆放执行质量挂钩的奖惩机制，对操作规范、正确率高的人员给予表彰奖励，对不达标者进行再培训与督导，提升执行动力。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占位符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36248" y="3955415"/>
            <a:ext cx="2901252" cy="38049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2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奖惩制度激励落实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占位符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721860" y="4431030"/>
            <a:ext cx="2901315" cy="12223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通过理论测试与实操考核相结合的方式，定期评估护理人员掌握程度，考核结果与个人绩效挂钩，强化培训效果转化。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占位符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721574" y="3955415"/>
            <a:ext cx="2901252" cy="38049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fontScale="9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多维度考核机制实施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06805" y="4431030"/>
            <a:ext cx="2901315" cy="12223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fontScale="90000"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针对护理人员良肢位摆放知识和技能掌握不熟练问题，开展专题培训，内容涵盖操作规范、并发症预防等核心要点，确保全员掌握标准化流程。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06900" y="3955415"/>
            <a:ext cx="2901252" cy="38049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fontScale="9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系统化培训体系构建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2" name="内容占位符 15" descr="27262409-12b3-11f1-9519-5287310033c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74" b="174"/>
          <a:stretch>
            <a:fillRect/>
          </a:stretch>
        </p:blipFill>
        <p:spPr>
          <a:xfrm>
            <a:off x="609600" y="1413510"/>
            <a:ext cx="10972800" cy="2345690"/>
          </a:xfrm>
          <a:custGeom>
            <a:av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avLst>
            <a:gdLst>
              <a:gd name="connisteX0-1" fmla="*/ 0 w 10972800"/>
              <a:gd name="connsiteY0-2" fmla="*/ 203200 h 2235200"/>
              <a:gd name="connisteX1-3" fmla="*/ 203200 w 10972800"/>
              <a:gd name="connsiteY1-4" fmla="*/ 0 h 2235200"/>
              <a:gd name="connisteX2-5" fmla="*/ 10769600 w 10972800"/>
              <a:gd name="connsiteY2-6" fmla="*/ 0 h 2235200"/>
              <a:gd name="connisteX3-7" fmla="*/ 10972800 w 10972800"/>
              <a:gd name="connsiteY3-8" fmla="*/ 203200 h 2235200"/>
              <a:gd name="connisteX4-9" fmla="*/ 10972800 w 10972800"/>
              <a:gd name="connsiteY4-10" fmla="*/ 2032000 h 2235200"/>
              <a:gd name="connisteX5-11" fmla="*/ 10769600 w 10972800"/>
              <a:gd name="connsiteY5-12" fmla="*/ 2235200 h 2235200"/>
              <a:gd name="connisteX6-13" fmla="*/ 203200 w 10972800"/>
              <a:gd name="connsiteY6-14" fmla="*/ 2235200 h 2235200"/>
              <a:gd name="connisteX7-15" fmla="*/ 0 w 10972800"/>
              <a:gd name="connsiteY7-16" fmla="*/ 2032000 h 2235200"/>
              <a:gd name="connisteX8-17" fmla="*/ 0 w 10972800"/>
              <a:gd name="connsiteY8-1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  <a:cxn ang="0">
                <a:pos x="connisteX7-15" y="connsiteY7-16"/>
              </a:cxn>
              <a:cxn ang="0">
                <a:pos x="connisteX8-17" y="connsiteY8-1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 w="9525">
            <a:noFill/>
          </a:ln>
        </p:spPr>
      </p:pic>
      <p:sp>
        <p:nvSpPr>
          <p:cNvPr id="23" name="标题 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30910" y="874395"/>
            <a:ext cx="6280785" cy="53911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 lnSpcReduction="10000"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加强培训考核与建立奖惩制度</a:t>
            </a:r>
            <a:endParaRPr lang="zh-CN" altLang="en-US" sz="32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占位符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31200" y="4140200"/>
            <a:ext cx="3251200" cy="1524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结合患者病情及家属认知水平，开展一对一宣教指导，通过现场示范、问答互动等方式，解答疑问并纠正错误认知，提高依从性。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占位符 1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31200" y="3632200"/>
            <a:ext cx="32512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个性化宣教指导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578850" y="2413000"/>
            <a:ext cx="7239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>
            <a:lvl1pPr marL="0" indent="0" algn="ctr" rtl="0" eaLnBrk="0" fontAlgn="base" hangingPunct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09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占位符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470400" y="4140200"/>
            <a:ext cx="3251200" cy="1524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针对不同体位（卧位、坐位等）设计图文并茂的宣传手册，内容包含功能位示意图、常见错误对比及家庭护理要点，便于患者及家属随时查阅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占位符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70400" y="3632200"/>
            <a:ext cx="32512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专题化宣传资料编制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占位符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718050" y="2413000"/>
            <a:ext cx="7239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>
            <a:lvl1pPr marL="0" indent="0" algn="ctr" rtl="0" eaLnBrk="0" fontAlgn="base" hangingPunct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09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占位符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4140200"/>
            <a:ext cx="3251200" cy="15240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按疾病康复阶段制作系列护理动画，直观演示良肢位摆放步骤及注意事项，通过病房电视、移动终端等渠道循环播放，增强患者及家属理解。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3632200"/>
            <a:ext cx="32512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分阶段护理动画科普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文本占位符 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57250" y="2413000"/>
            <a:ext cx="723900" cy="609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>
            <a:lvl1pPr marL="0" indent="0" algn="ctr" rtl="0" eaLnBrk="0" fontAlgn="base" hangingPunct="0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09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标题 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99110" y="1143000"/>
            <a:ext cx="109728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开展多元化宣教与完善宣传资料</a:t>
            </a:r>
            <a:endParaRPr lang="zh-CN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432800" y="4114800"/>
            <a:ext cx="2844800" cy="1828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设立问题反馈登记本，护理人员发现操作问题及时记录，圈员定期汇总分析，针对性制定改进措施并跟踪整改效果，形成“发现-反馈-改进”闭环管理。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占位符 1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32800" y="3657600"/>
            <a:ext cx="28448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闭环式反馈机制建立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图片占位符 25" descr="275c3a36-12b3-11f1-9636-1a468c17fec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733" b="733"/>
          <a:stretch>
            <a:fillRect/>
          </a:stretch>
        </p:blipFill>
        <p:spPr>
          <a:xfrm>
            <a:off x="8432800" y="1828800"/>
            <a:ext cx="2844800" cy="1625600"/>
          </a:xfrm>
          <a:prstGeom prst="rect">
            <a:avLst/>
          </a:prstGeom>
          <a:solidFill>
            <a:srgbClr val="DDDDDD"/>
          </a:solidFill>
          <a:ln w="9525">
            <a:noFill/>
          </a:ln>
        </p:spPr>
      </p:pic>
      <p:sp>
        <p:nvSpPr>
          <p:cNvPr id="16" name="文本占位符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673600" y="4114800"/>
            <a:ext cx="2844800" cy="1828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成立专项监督小组，定期对病房良肢位摆放情况进行抽查，重点检查卧位姿势、肢体支撑及体位更换频率等关键指标，确保规范落实。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占位符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73600" y="3657600"/>
            <a:ext cx="28448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常态化监督检查执行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8" name="图片占位符 24" descr="275c3a94-12b3-11f1-9636-1a468c17fec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733" b="733"/>
          <a:stretch>
            <a:fillRect/>
          </a:stretch>
        </p:blipFill>
        <p:spPr>
          <a:xfrm>
            <a:off x="4673600" y="1828800"/>
            <a:ext cx="2844800" cy="1625600"/>
          </a:xfrm>
          <a:prstGeom prst="rect">
            <a:avLst/>
          </a:prstGeom>
          <a:solidFill>
            <a:srgbClr val="DDDDDD"/>
          </a:solidFill>
          <a:ln w="9525">
            <a:noFill/>
          </a:ln>
        </p:spPr>
      </p:pic>
      <p:sp>
        <p:nvSpPr>
          <p:cNvPr id="20" name="文本占位符 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4114800"/>
            <a:ext cx="2844800" cy="1828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依据《中国脑卒中康复治疗指南（2021年版）》，制定本院良肢位摆放操作标准及质量考核指标，明确各环节操作要求与评价细则。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文本占位符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14400" y="3657600"/>
            <a:ext cx="28448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标准化操作规范制定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2" name="图片占位符 23" descr="275c398f-12b3-11f1-9636-1a468c17fece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1678" r="1678"/>
          <a:stretch>
            <a:fillRect/>
          </a:stretch>
        </p:blipFill>
        <p:spPr>
          <a:xfrm>
            <a:off x="914400" y="1828800"/>
            <a:ext cx="2844800" cy="1625600"/>
          </a:xfrm>
          <a:prstGeom prst="rect">
            <a:avLst/>
          </a:prstGeom>
          <a:solidFill>
            <a:srgbClr val="DDDDDD"/>
          </a:solidFill>
          <a:ln w="9525">
            <a:noFill/>
          </a:ln>
        </p:spPr>
      </p:pic>
      <p:sp>
        <p:nvSpPr>
          <p:cNvPr id="27" name="标题 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49935" y="1143000"/>
            <a:ext cx="109728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健全监督管理制度与建立反馈机制</a:t>
            </a:r>
            <a:endParaRPr lang="zh-CN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占位符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432800" y="2336800"/>
            <a:ext cx="2844800" cy="16173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定期召开医护康协作会议，分享典型案例，优化干预策略，实现信息互通与资源共享，提升整体康复护理效果。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占位符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ctr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 sz="19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多学科协作机制完善</a:t>
            </a:r>
            <a:endParaRPr lang="zh-CN" altLang="en-US" sz="19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占位符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673600" y="2336800"/>
            <a:ext cx="2844800" cy="177736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与康复科联合建立跨学科管理圈，明确护理与康复人员职责分工，共同制定24小时体位管理计划，将良肢位摆放纳入交接班必查项目，确保无缝衔接。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文本占位符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ctr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 sz="1900">
                <a:solidFill>
                  <a:schemeClr val="accent1"/>
                </a:solidFill>
              </a:rPr>
              <a:t>“</a:t>
            </a:r>
            <a:r>
              <a:rPr lang="zh-CN" altLang="en-US" sz="19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24h防挛缩管理圈”共建</a:t>
            </a:r>
            <a:endParaRPr lang="zh-CN" altLang="en-US" sz="19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占位符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24230" y="2296795"/>
            <a:ext cx="2844800" cy="181737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lnSpcReduction="10000"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根据患者肌张力分级（Ashworth量表）制定个性化摆放方案，对高肌张力患者采用抗痉挛体位，低肌张力患者强化关节支撑，提升摆放精准性。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文本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 fontScale="80000"/>
          </a:bodyPr>
          <a:lstStyle>
            <a:lvl1pPr marL="0" indent="0" algn="ctr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基于Ashworth量表的差异化方案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914400"/>
            <a:ext cx="7519035" cy="68008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分层干预策略与联动康复路径</a:t>
            </a:r>
            <a:endParaRPr lang="zh-CN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效果</a:t>
            </a:r>
            <a:r>
              <a:rPr lang="zh-CN" altLang="en-US" sz="4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确认</a:t>
            </a:r>
            <a:endParaRPr lang="zh-CN" altLang="en-US" sz="4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 userDrawn="1"/>
        </p:nvSpPr>
        <p:spPr>
          <a:xfrm>
            <a:off x="1946416" y="776485"/>
            <a:ext cx="2516832" cy="40078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32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</a:rPr>
              <a:t>效果</a:t>
            </a:r>
            <a:r>
              <a:rPr lang="zh-CN" altLang="en-US" sz="3200" b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Arial" panose="020B0604020202020204" pitchFamily="34" charset="0"/>
              </a:rPr>
              <a:t>确认</a:t>
            </a:r>
            <a:endParaRPr lang="zh-CN" altLang="en-US" sz="3200" b="1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46275" y="1177290"/>
            <a:ext cx="8223885" cy="78232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对象：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脑卒中偏瘫患者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时间：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月——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12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方法：数据收集期间，总调查脑卒中偏瘫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360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例，其中良肢位摆放达标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337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例，改善后现状值为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3.61%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1946275" y="2399030"/>
          <a:ext cx="8093075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7740"/>
                <a:gridCol w="1155700"/>
                <a:gridCol w="1465580"/>
                <a:gridCol w="3234055"/>
              </a:tblGrid>
              <a:tr h="34036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脑卒中偏瘫患者未达标原因查检汇总表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查检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专案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例数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百分比（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%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）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累计百分比（</a:t>
                      </a: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%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）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缺乏安全相关知识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4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17.39%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17.39%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动态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肢体功能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不到位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6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26.09%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43.48%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对良肢位摆放不重视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5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21.74%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65.22%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家属</a:t>
                      </a: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  <a:cs typeface="Arial" panose="020B0604020202020204" pitchFamily="34" charset="0"/>
                        </a:rPr>
                        <a:t>依从性低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6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26.09%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91.31%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经济因素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4.34%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95.65%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其他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4.35%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100%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合计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23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100%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 userDrawn="1"/>
        </p:nvSpPr>
        <p:spPr>
          <a:xfrm>
            <a:off x="6532245" y="1115060"/>
            <a:ext cx="2855595" cy="275590"/>
          </a:xfrm>
          <a:prstGeom prst="rect">
            <a:avLst/>
          </a:prstGeom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144" y="866776"/>
            <a:ext cx="4192336" cy="482959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2320322" y="867057"/>
            <a:ext cx="1774190" cy="275590"/>
          </a:xfrm>
          <a:prstGeom prst="rect">
            <a:avLst/>
          </a:prstGeom>
        </p:spPr>
        <p:txBody>
          <a:bodyPr wrap="square" rtlCol="0">
            <a:spAutoFit/>
          </a:bodyPr>
          <a:p>
            <a:pPr algn="ctr"/>
            <a:r>
              <a:rPr lang="zh-CN" altLang="en-US" b="1"/>
              <a:t>改善后</a:t>
            </a:r>
            <a:r>
              <a:rPr lang="zh-CN" altLang="en-US" b="1">
                <a:cs typeface="Arial" panose="020B0604020202020204" pitchFamily="34" charset="0"/>
              </a:rPr>
              <a:t>柏拉图</a:t>
            </a:r>
            <a:endParaRPr lang="zh-CN" altLang="en-US" b="1"/>
          </a:p>
        </p:txBody>
      </p:sp>
      <p:pic>
        <p:nvPicPr>
          <p:cNvPr id="11" name="图片 10" descr="改善后柏拉图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1350010"/>
            <a:ext cx="12017375" cy="53409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2414052" y="688966"/>
            <a:ext cx="6616700" cy="46037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400"/>
              <a:t>无形结果</a:t>
            </a:r>
            <a:endParaRPr lang="zh-CN" altLang="en-US" sz="2400"/>
          </a:p>
        </p:txBody>
      </p:sp>
      <p:graphicFrame>
        <p:nvGraphicFramePr>
          <p:cNvPr id="4" name="表格 3"/>
          <p:cNvGraphicFramePr/>
          <p:nvPr/>
        </p:nvGraphicFramePr>
        <p:xfrm>
          <a:off x="2624843" y="1336750"/>
          <a:ext cx="6195060" cy="3290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4615"/>
                <a:gridCol w="641985"/>
                <a:gridCol w="609600"/>
                <a:gridCol w="673100"/>
                <a:gridCol w="698500"/>
                <a:gridCol w="1168400"/>
                <a:gridCol w="1038860"/>
              </a:tblGrid>
              <a:tr h="356869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项目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改善前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改善后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活动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成长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正</a:t>
                      </a:r>
                      <a:r>
                        <a:rPr lang="en-US" altLang="zh-CN"/>
                        <a:t>/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负向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2100">
                <a:tc v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总分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平均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总分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平均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解决问题能力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6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4.00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责任心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2.25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4.00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.75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沟通协调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1.75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4.00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2.25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自信心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14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3.50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.5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团队凝聚力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4.00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积极性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3.75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.25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和谐度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4.00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 gridSpan="7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注：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选取组员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人评分，每项最高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分，最低</a:t>
                      </a:r>
                      <a:r>
                        <a:rPr lang="en-US" altLang="zh-CN"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分，总分</a:t>
                      </a:r>
                      <a:r>
                        <a:rPr lang="zh-CN" altLang="en-US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35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0</a:t>
                      </a:r>
                      <a:r>
                        <a:rPr lang="zh-CN" altLang="en-US">
                          <a:cs typeface="Arial" panose="020B0604020202020204" pitchFamily="34" charset="0"/>
                        </a:rPr>
                        <a:t>分。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 userDrawn="1"/>
        </p:nvSpPr>
        <p:spPr>
          <a:xfrm>
            <a:off x="8164844" y="2032612"/>
            <a:ext cx="25908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↑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8164824" y="2382293"/>
            <a:ext cx="25908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↑</a:t>
            </a:r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8164824" y="3627864"/>
            <a:ext cx="259080" cy="40515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/>
              <a:t>↑</a:t>
            </a:r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8164824" y="3299451"/>
            <a:ext cx="25908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↑</a:t>
            </a:r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8164824" y="2969855"/>
            <a:ext cx="25908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↑</a:t>
            </a:r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8164824" y="3997354"/>
            <a:ext cx="25908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↑</a:t>
            </a:r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164824" y="2691725"/>
            <a:ext cx="25908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/>
              <a:t>↑</a:t>
            </a:r>
            <a:endParaRPr lang="zh-CN" altLang="en-US"/>
          </a:p>
        </p:txBody>
      </p:sp>
      <p:graphicFrame>
        <p:nvGraphicFramePr>
          <p:cNvPr id="6" name="图表 5"/>
          <p:cNvGraphicFramePr/>
          <p:nvPr/>
        </p:nvGraphicFramePr>
        <p:xfrm>
          <a:off x="9166860" y="2153920"/>
          <a:ext cx="2933668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2267585" y="1518285"/>
            <a:ext cx="8136255" cy="386016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800" b="1"/>
              <a:t>有形结果</a:t>
            </a:r>
            <a:endParaRPr lang="zh-CN" altLang="en-US" sz="2800" b="1"/>
          </a:p>
          <a:p>
            <a:endParaRPr lang="zh-CN" altLang="en-US" sz="2400" b="1"/>
          </a:p>
          <a:p>
            <a:r>
              <a:rPr lang="zh-CN" altLang="en-US" sz="1800">
                <a:solidFill>
                  <a:srgbClr val="FF0000"/>
                </a:solidFill>
              </a:rPr>
              <a:t>目标达成率</a:t>
            </a:r>
            <a:r>
              <a:rPr lang="zh-CN" altLang="en-US" sz="1800"/>
              <a:t>=</a:t>
            </a:r>
            <a:r>
              <a:rPr lang="en-US" altLang="zh-CN" sz="1800"/>
              <a:t>(</a:t>
            </a:r>
            <a:r>
              <a:rPr lang="zh-CN" altLang="en-US" sz="1800"/>
              <a:t>改善后-改善前</a:t>
            </a:r>
            <a:r>
              <a:rPr lang="en-US" altLang="zh-CN" sz="1800"/>
              <a:t>)</a:t>
            </a:r>
            <a:r>
              <a:rPr lang="en-US" altLang="zh-CN" sz="1800">
                <a:solidFill>
                  <a:schemeClr val="tx1"/>
                </a:solidFill>
                <a:ea typeface="宋体" panose="02010600030101010101" pitchFamily="2" charset="-122"/>
              </a:rPr>
              <a:t>➗（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</a:rPr>
              <a:t>目标值-改善前</a:t>
            </a:r>
            <a:r>
              <a:rPr lang="en-US" altLang="zh-CN" sz="1800">
                <a:solidFill>
                  <a:schemeClr val="tx1"/>
                </a:solidFill>
                <a:ea typeface="宋体" panose="02010600030101010101" pitchFamily="2" charset="-122"/>
              </a:rPr>
              <a:t>）✖100%</a:t>
            </a:r>
            <a:endParaRPr lang="en-US" altLang="zh-CN" sz="1800">
              <a:solidFill>
                <a:schemeClr val="tx1"/>
              </a:solidFill>
              <a:ea typeface="宋体" panose="02010600030101010101" pitchFamily="2" charset="-122"/>
            </a:endParaRPr>
          </a:p>
          <a:p>
            <a:r>
              <a:rPr lang="en-US" altLang="zh-CN" sz="1800">
                <a:solidFill>
                  <a:schemeClr val="tx1"/>
                </a:solidFill>
                <a:ea typeface="宋体" panose="02010600030101010101" pitchFamily="2" charset="-122"/>
              </a:rPr>
              <a:t>                  =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ea typeface="宋体" panose="02010600030101010101" pitchFamily="2" charset="-122"/>
              </a:rPr>
              <a:t>83.33%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</a:rPr>
              <a:t>-</a:t>
            </a:r>
            <a:r>
              <a:rPr lang="en-US" altLang="zh-CN" sz="1800">
                <a:solidFill>
                  <a:schemeClr val="tx1"/>
                </a:solidFill>
                <a:ea typeface="宋体" panose="02010600030101010101" pitchFamily="2" charset="-122"/>
              </a:rPr>
              <a:t>57.14%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</a:rPr>
              <a:t>）</a:t>
            </a:r>
            <a:r>
              <a:rPr lang="en-US" altLang="en-US" sz="1800"/>
              <a:t>➗</a:t>
            </a:r>
            <a:r>
              <a:rPr lang="zh-CN" altLang="en-US" sz="1800"/>
              <a:t>（</a:t>
            </a:r>
            <a:r>
              <a:rPr lang="en-US" altLang="zh-CN" sz="1800"/>
              <a:t>79.60%</a:t>
            </a:r>
            <a:r>
              <a:rPr lang="zh-CN" altLang="en-US" sz="1800"/>
              <a:t>-</a:t>
            </a:r>
            <a:r>
              <a:rPr lang="en-US" altLang="zh-CN" sz="1800"/>
              <a:t>57.14%</a:t>
            </a:r>
            <a:r>
              <a:rPr lang="zh-CN" altLang="en-US" sz="1800"/>
              <a:t>）</a:t>
            </a:r>
            <a:r>
              <a:rPr lang="en-US" altLang="en-US" sz="1800"/>
              <a:t>✖</a:t>
            </a:r>
            <a:r>
              <a:rPr lang="en-US" altLang="zh-CN" sz="1800"/>
              <a:t>100%</a:t>
            </a:r>
            <a:endParaRPr lang="zh-CN" altLang="en-US" sz="1800"/>
          </a:p>
          <a:p>
            <a:r>
              <a:rPr lang="zh-CN" altLang="en-US" sz="1800"/>
              <a:t>                  =</a:t>
            </a:r>
            <a:r>
              <a:rPr lang="en-US" altLang="zh-CN" sz="1800"/>
              <a:t>116.61%</a:t>
            </a:r>
            <a:endParaRPr lang="en-US" altLang="zh-CN" sz="1800"/>
          </a:p>
          <a:p>
            <a:endParaRPr lang="zh-CN" altLang="en-US" sz="1800"/>
          </a:p>
          <a:p>
            <a:r>
              <a:rPr lang="zh-CN" altLang="en-US" sz="1800">
                <a:solidFill>
                  <a:srgbClr val="FF0000"/>
                </a:solidFill>
              </a:rPr>
              <a:t>目标进步率</a:t>
            </a:r>
            <a:r>
              <a:rPr lang="zh-CN" altLang="en-US" sz="1800"/>
              <a:t>=</a:t>
            </a:r>
            <a:r>
              <a:rPr lang="en-US" altLang="zh-CN" sz="1800"/>
              <a:t>(</a:t>
            </a:r>
            <a:r>
              <a:rPr lang="zh-CN" altLang="en-US" sz="1800"/>
              <a:t>改善后</a:t>
            </a:r>
            <a:r>
              <a:rPr lang="en-US" altLang="zh-CN" sz="1800"/>
              <a:t>-</a:t>
            </a:r>
            <a:r>
              <a:rPr lang="zh-CN" altLang="en-US" sz="1800"/>
              <a:t>改善前</a:t>
            </a:r>
            <a:r>
              <a:rPr lang="en-US" altLang="zh-CN" sz="1800"/>
              <a:t>)</a:t>
            </a:r>
            <a:r>
              <a:rPr lang="en-US" altLang="en-US" sz="1800"/>
              <a:t>➗</a:t>
            </a:r>
            <a:r>
              <a:rPr lang="zh-CN" altLang="en-US" sz="1800"/>
              <a:t>改善前</a:t>
            </a:r>
            <a:r>
              <a:rPr lang="en-US" altLang="en-US" sz="1800"/>
              <a:t>✖</a:t>
            </a:r>
            <a:r>
              <a:rPr lang="en-US" altLang="zh-CN" sz="1800"/>
              <a:t>100%</a:t>
            </a:r>
            <a:endParaRPr lang="en-US" altLang="zh-CN" sz="1800"/>
          </a:p>
          <a:p>
            <a:r>
              <a:rPr lang="en-US" altLang="zh-CN" sz="1800"/>
              <a:t>                  </a:t>
            </a:r>
            <a:r>
              <a:rPr lang="zh-CN" altLang="en-US" sz="1800"/>
              <a:t>=（</a:t>
            </a:r>
            <a:r>
              <a:rPr lang="en-US" altLang="zh-CN" sz="1800"/>
              <a:t>83.33%-57.14%</a:t>
            </a:r>
            <a:r>
              <a:rPr lang="zh-CN" altLang="en-US" sz="1800"/>
              <a:t>）</a:t>
            </a:r>
            <a:r>
              <a:rPr lang="en-US" altLang="en-US" sz="1800"/>
              <a:t>➗</a:t>
            </a:r>
            <a:r>
              <a:rPr lang="zh-CN" altLang="en-US" sz="1800"/>
              <a:t>（</a:t>
            </a:r>
            <a:r>
              <a:rPr lang="en-US" altLang="zh-CN" sz="1800"/>
              <a:t>57.14%</a:t>
            </a:r>
            <a:r>
              <a:rPr lang="zh-CN" altLang="en-US" sz="1800"/>
              <a:t>）</a:t>
            </a:r>
            <a:r>
              <a:rPr lang="en-US" altLang="en-US" sz="1800"/>
              <a:t>✖</a:t>
            </a:r>
            <a:r>
              <a:rPr lang="en-US" altLang="zh-CN" sz="1800"/>
              <a:t>100%</a:t>
            </a:r>
            <a:endParaRPr lang="en-US" altLang="zh-CN" sz="1800"/>
          </a:p>
          <a:p>
            <a:r>
              <a:rPr lang="en-US" altLang="zh-CN" sz="1800"/>
              <a:t>                  </a:t>
            </a:r>
            <a:r>
              <a:rPr lang="zh-CN" altLang="en-US" sz="1800"/>
              <a:t>=</a:t>
            </a:r>
            <a:r>
              <a:rPr lang="en-US" altLang="zh-CN" sz="1800"/>
              <a:t>45.83%</a:t>
            </a:r>
            <a:endParaRPr lang="zh-CN" altLang="en-US" sz="1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1878330" y="860664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有形结果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1878330" y="1854836"/>
            <a:ext cx="8229600" cy="339447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/>
              <a:t>改善</a:t>
            </a:r>
            <a:r>
              <a:rPr lang="zh-CN" altLang="en-US">
                <a:cs typeface="Arial" panose="020B0604020202020204" pitchFamily="34" charset="0"/>
              </a:rPr>
              <a:t>效果对比柱状图</a:t>
            </a:r>
            <a:endParaRPr lang="zh-CN" altLang="en-US"/>
          </a:p>
        </p:txBody>
      </p:sp>
      <p:graphicFrame>
        <p:nvGraphicFramePr>
          <p:cNvPr id="4" name="图表 3"/>
          <p:cNvGraphicFramePr/>
          <p:nvPr/>
        </p:nvGraphicFramePr>
        <p:xfrm>
          <a:off x="3299408" y="2297424"/>
          <a:ext cx="6565498" cy="3146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上箭头 4"/>
          <p:cNvSpPr/>
          <p:nvPr userDrawn="1"/>
        </p:nvSpPr>
        <p:spPr>
          <a:xfrm>
            <a:off x="6226095" y="2999708"/>
            <a:ext cx="402627" cy="826135"/>
          </a:xfrm>
          <a:prstGeom prst="upArrow">
            <a:avLst/>
          </a:prstGeom>
          <a:ln w="2540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上箭头 8"/>
          <p:cNvSpPr/>
          <p:nvPr userDrawn="1"/>
        </p:nvSpPr>
        <p:spPr>
          <a:xfrm>
            <a:off x="4629113" y="3536154"/>
            <a:ext cx="402627" cy="826135"/>
          </a:xfrm>
          <a:prstGeom prst="upArrow">
            <a:avLst/>
          </a:prstGeom>
          <a:ln w="25400" cap="flat" cmpd="sng" algn="ctr">
            <a:solidFill>
              <a:schemeClr val="phClr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0" y="2032000"/>
            <a:ext cx="5029200" cy="914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围绕操作规范性、患者体位正确率、并发症发生率等关键指标，制定量化考核标准，确保良肢位摆放质量有明确的评估依据。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占位符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553200" y="1524000"/>
            <a:ext cx="50292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建立完善的质量考核标准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00800" y="152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>
                <a:solidFill>
                  <a:schemeClr val="lt1"/>
                </a:solidFill>
              </a:rPr>
              <a:t> 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文本占位符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62000" y="2032000"/>
            <a:ext cx="5029200" cy="914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结合临床实践与循证依据，明确不同体位（仰卧位、健侧卧位、患侧卧位）的摆放要点，包括肢体角度、支撑方式及注意事项，形成可操作性强的标准化流程。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占位符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62000" y="1524000"/>
            <a:ext cx="50292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制定科学的良肢位摆放操作流程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装饰 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00" y="152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ts val="13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>
                <a:solidFill>
                  <a:schemeClr val="lt1"/>
                </a:solidFill>
              </a:rPr>
              <a:t> </a:t>
            </a:r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16" name="内容占位符 12" descr="28d654ac-12b3-11f1-9519-5287310033c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10" b="110"/>
          <a:stretch>
            <a:fillRect/>
          </a:stretch>
        </p:blipFill>
        <p:spPr>
          <a:xfrm>
            <a:off x="609600" y="3152775"/>
            <a:ext cx="10972800" cy="2162810"/>
          </a:xfrm>
          <a:custGeom>
            <a:av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avLst>
            <a:gdLst>
              <a:gd name="connisteX0-1" fmla="*/ 0 w 10972800"/>
              <a:gd name="connsiteY0-2" fmla="*/ 203200 h 2844800"/>
              <a:gd name="connisteX1-3" fmla="*/ 203200 w 10972800"/>
              <a:gd name="connsiteY1-4" fmla="*/ 0 h 2844800"/>
              <a:gd name="connisteX2-5" fmla="*/ 10769600 w 10972800"/>
              <a:gd name="connsiteY2-6" fmla="*/ 0 h 2844800"/>
              <a:gd name="connisteX3-7" fmla="*/ 10972800 w 10972800"/>
              <a:gd name="connsiteY3-8" fmla="*/ 203200 h 2844800"/>
              <a:gd name="connisteX4-9" fmla="*/ 10972800 w 10972800"/>
              <a:gd name="connsiteY4-10" fmla="*/ 2641600 h 2844800"/>
              <a:gd name="connisteX5-11" fmla="*/ 10769600 w 10972800"/>
              <a:gd name="connsiteY5-12" fmla="*/ 2844800 h 2844800"/>
              <a:gd name="connisteX6-13" fmla="*/ 203200 w 10972800"/>
              <a:gd name="connsiteY6-14" fmla="*/ 2844800 h 2844800"/>
              <a:gd name="connisteX7-15" fmla="*/ 0 w 10972800"/>
              <a:gd name="connsiteY7-16" fmla="*/ 2641600 h 2844800"/>
              <a:gd name="connisteX8-17" fmla="*/ 0 w 10972800"/>
              <a:gd name="connsiteY8-1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  <a:cxn ang="0">
                <a:pos x="connisteX7-15" y="connsiteY7-16"/>
              </a:cxn>
              <a:cxn ang="0">
                <a:pos x="connisteX8-17" y="connsiteY8-1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 w="9525">
            <a:noFill/>
          </a:ln>
        </p:spPr>
      </p:pic>
      <p:sp>
        <p:nvSpPr>
          <p:cNvPr id="17" name="标题 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812800"/>
            <a:ext cx="109728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形成标准化操作流程</a:t>
            </a:r>
            <a:endParaRPr lang="zh-CN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1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432800" y="4216400"/>
            <a:ext cx="2844800" cy="1828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推动护理人员掌握标准化操作，强化质量意识，促进神经康复护理循证实践落地，提升护理团队专业素养。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占位符 1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32800" y="3759200"/>
            <a:ext cx="28448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提升护理专业化水平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图片占位符 25" descr="2c42adb7-12b3-11f1-9c96-56e39b738ed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5882" b="5882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avLst>
            <a:gdLst>
              <a:gd name="connisteX0-1" fmla="*/ 0 w 3454400"/>
              <a:gd name="connsiteY0-2" fmla="*/ 203200 h 2032000"/>
              <a:gd name="connisteX1-3" fmla="*/ 203200 w 3454400"/>
              <a:gd name="connsiteY1-4" fmla="*/ 0 h 2032000"/>
              <a:gd name="connisteX2-5" fmla="*/ 3251200 w 3454400"/>
              <a:gd name="connsiteY2-6" fmla="*/ 0 h 2032000"/>
              <a:gd name="connisteX3-7" fmla="*/ 3454400 w 3454400"/>
              <a:gd name="connsiteY3-8" fmla="*/ 203200 h 2032000"/>
              <a:gd name="connisteX4-9" fmla="*/ 3454400 w 3454400"/>
              <a:gd name="connsiteY4-10" fmla="*/ 2032000 h 2032000"/>
              <a:gd name="connisteX5-11" fmla="*/ 0 w 3454400"/>
              <a:gd name="connsiteY5-12" fmla="*/ 2032000 h 2032000"/>
              <a:gd name="connisteX6-13" fmla="*/ 0 w 3454400"/>
              <a:gd name="connsiteY6-14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 w="9525">
            <a:noFill/>
          </a:ln>
        </p:spPr>
      </p:pic>
      <p:sp>
        <p:nvSpPr>
          <p:cNvPr id="16" name="文本占位符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673600" y="4216400"/>
            <a:ext cx="2844800" cy="1828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科学的体位管理为后续康复训练奠定基础，有助于缩短患者康复周期，促进肢体功能恢复。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占位符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73600" y="3759200"/>
            <a:ext cx="28448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加速患者功能恢复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8" name="图片占位符 24" descr="2c42ac03-12b3-11f1-9c96-56e39b738edf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368" b="368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avLst>
            <a:gdLst>
              <a:gd name="connisteX0-1" fmla="*/ 0 w 3454400"/>
              <a:gd name="connsiteY0-2" fmla="*/ 203200 h 2032000"/>
              <a:gd name="connisteX1-3" fmla="*/ 203200 w 3454400"/>
              <a:gd name="connsiteY1-4" fmla="*/ 0 h 2032000"/>
              <a:gd name="connisteX2-5" fmla="*/ 3251200 w 3454400"/>
              <a:gd name="connsiteY2-6" fmla="*/ 0 h 2032000"/>
              <a:gd name="connisteX3-7" fmla="*/ 3454400 w 3454400"/>
              <a:gd name="connsiteY3-8" fmla="*/ 203200 h 2032000"/>
              <a:gd name="connisteX4-9" fmla="*/ 3454400 w 3454400"/>
              <a:gd name="connsiteY4-10" fmla="*/ 2032000 h 2032000"/>
              <a:gd name="connisteX5-11" fmla="*/ 0 w 3454400"/>
              <a:gd name="connsiteY5-12" fmla="*/ 2032000 h 2032000"/>
              <a:gd name="connisteX6-13" fmla="*/ 0 w 3454400"/>
              <a:gd name="connsiteY6-14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 w="9525">
            <a:noFill/>
          </a:ln>
        </p:spPr>
      </p:pic>
      <p:sp>
        <p:nvSpPr>
          <p:cNvPr id="20" name="文本占位符 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13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通过规范良肢位摆放，降低肩手综合征、关节挛缩等并发症发生率，提升患者康复安全性。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占位符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14400" y="3759200"/>
            <a:ext cx="2844800" cy="406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ts val="13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585" indent="-286385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ts val="13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ts val="13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减少并发症发生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2" name="图片占位符 23" descr="2c42ad9a-12b3-11f1-9c96-56e39b738edf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t="5882" b="5882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avLst>
            <a:gdLst>
              <a:gd name="connisteX0-1" fmla="*/ 0 w 3454400"/>
              <a:gd name="connsiteY0-2" fmla="*/ 203200 h 2032000"/>
              <a:gd name="connisteX1-3" fmla="*/ 203200 w 3454400"/>
              <a:gd name="connsiteY1-4" fmla="*/ 0 h 2032000"/>
              <a:gd name="connisteX2-5" fmla="*/ 3251200 w 3454400"/>
              <a:gd name="connsiteY2-6" fmla="*/ 0 h 2032000"/>
              <a:gd name="connisteX3-7" fmla="*/ 3454400 w 3454400"/>
              <a:gd name="connsiteY3-8" fmla="*/ 203200 h 2032000"/>
              <a:gd name="connisteX4-9" fmla="*/ 3454400 w 3454400"/>
              <a:gd name="connsiteY4-10" fmla="*/ 2032000 h 2032000"/>
              <a:gd name="connisteX5-11" fmla="*/ 0 w 3454400"/>
              <a:gd name="connsiteY5-12" fmla="*/ 2032000 h 2032000"/>
              <a:gd name="connisteX6-13" fmla="*/ 0 w 3454400"/>
              <a:gd name="connsiteY6-14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0-1" y="connsiteY0-2"/>
              </a:cxn>
              <a:cxn ang="0">
                <a:pos x="connisteX1-3" y="connsiteY1-4"/>
              </a:cxn>
              <a:cxn ang="0">
                <a:pos x="connisteX2-5" y="connsiteY2-6"/>
              </a:cxn>
              <a:cxn ang="0">
                <a:pos x="connisteX3-7" y="connsiteY3-8"/>
              </a:cxn>
              <a:cxn ang="0">
                <a:pos x="connisteX4-9" y="connsiteY4-10"/>
              </a:cxn>
              <a:cxn ang="0">
                <a:pos x="connisteX5-11" y="connsiteY5-12"/>
              </a:cxn>
              <a:cxn ang="0">
                <a:pos x="connisteX6-13" y="connsiteY6-14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 w="9525">
            <a:noFill/>
          </a:ln>
        </p:spPr>
      </p:pic>
      <p:sp>
        <p:nvSpPr>
          <p:cNvPr id="27" name="标题 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09600" y="711200"/>
            <a:ext cx="10972800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normAutofit/>
          </a:bodyPr>
          <a:lstStyle>
            <a:lvl1pPr marL="0" indent="0" algn="l" rtl="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实现多重目标</a:t>
            </a:r>
            <a:endParaRPr lang="zh-CN" altLang="en-US" sz="3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112135" y="2056765"/>
            <a:ext cx="5968365" cy="1524635"/>
          </a:xfrm>
        </p:spPr>
        <p:txBody>
          <a:bodyPr>
            <a:normAutofit fontScale="90000"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8800"/>
              <a:t>感谢批评指正！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6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0d5adce6c973d4afa9e2c591bd44b2aa959f7d"/>
  <p:tag name="KSO_WM_NEWLAYOUT_GROUP_ID" val="layout_53"/>
  <p:tag name="KSO_WM_NEWLAYOUT_ID" val="slide_76713c4037f02356"/>
</p:tagLst>
</file>

<file path=ppt/tags/tag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0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5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52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90f67c371bd8592fb22d0ce8ad498800fcb1723"/>
  <p:tag name="KSO_WM_NEWLAYOUT_GROUP_ID" val="layout_59"/>
  <p:tag name="KSO_WM_NEWLAYOUT_ID" val="slide_a03752dd04035ed8"/>
</p:tagLst>
</file>

<file path=ppt/tags/tag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62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63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0ea6c4387f68f30d9a3009cb99cc21ccf03d02d"/>
  <p:tag name="KSO_WM_NEWLAYOUT_GROUP_ID" val="layout_10007"/>
  <p:tag name="KSO_WM_NEWLAYOUT_ID" val="slide_a6198808599c094b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72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73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3c5493088091cd9ff21f37f6b4c3058d8224f71"/>
  <p:tag name="KSO_WM_NEWLAYOUT_GROUP_ID" val="layout_10003"/>
  <p:tag name="KSO_WM_NEWLAYOUT_ID" val="slide_f03f66a8173a28af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4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85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86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ab43332086f84475d86125f4537058d8cf1c17"/>
  <p:tag name="KSO_WM_NEWLAYOUT_GROUP_ID" val="layout_48"/>
  <p:tag name="KSO_WM_NEWLAYOUT_ID" val="slide_81d8e711c58b27d4"/>
</p:tagLst>
</file>

<file path=ppt/tags/tag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0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0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02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ed8ba664f6e8e1adcbfe8e7577241d5156b7ab"/>
  <p:tag name="KSO_WM_NEWLAYOUT_GROUP_ID" val="layout_27"/>
  <p:tag name="KSO_WM_NEWLAYOUT_ID" val="slide_e8da08e968e1bc20"/>
</p:tagLst>
</file>

<file path=ppt/tags/tag10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6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17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18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9c97db770b2f8ece170a2e6ce26eb654104f1d"/>
  <p:tag name="KSO_WM_NEWLAYOUT_GROUP_ID" val="layout_42"/>
  <p:tag name="KSO_WM_NEWLAYOUT_ID" val="slide_dd2f059f6dfe3f3e"/>
</p:tagLst>
</file>

<file path=ppt/tags/tag1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0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3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32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6335b8e27e1375b56b0872d300a3b4d25154d30"/>
  <p:tag name="KSO_WM_NEWLAYOUT_GROUP_ID" val="layout_26"/>
  <p:tag name="KSO_WM_NEWLAYOUT_ID" val="slide_4e8a2b389c8bbf30"/>
</p:tagLst>
</file>

<file path=ppt/tags/tag1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6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47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48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940dbb395159a15b2b1958f1966168f3c48060"/>
  <p:tag name="KSO_WM_NEWLAYOUT_GROUP_ID" val="layout_39"/>
  <p:tag name="KSO_WM_NEWLAYOUT_ID" val="slide_e20e62975e2b0dd3"/>
</p:tagLst>
</file>

<file path=ppt/tags/tag1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1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5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8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59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60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3759fb03b17428aa7b6b82df6a9a88a16a10d7"/>
  <p:tag name="KSO_WM_NEWLAYOUT_GROUP_ID" val="layout_38"/>
  <p:tag name="KSO_WM_NEWLAYOUT_ID" val="slide_982d06a69879109a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7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72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e91b9f38e5613a79b92ff4f5b3407bd10221ad1"/>
  <p:tag name="KSO_WM_NEWLAYOUT_GROUP_ID" val="layout_10012"/>
  <p:tag name="KSO_WM_NEWLAYOUT_ID" val="slide_b551fdac1a16f7a8"/>
</p:tagLst>
</file>

<file path=ppt/tags/tag1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9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80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8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7e0503a3ed7d8f52aa65018a30544f3904dbdf4"/>
  <p:tag name="KSO_WM_NEWLAYOUT_GROUP_ID" val="layout_60"/>
  <p:tag name="KSO_WM_NEWLAYOUT_ID" val="slide_2e2dbdde591b2dc4"/>
</p:tagLst>
</file>

<file path=ppt/tags/tag1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4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9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90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91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1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7851e59dc0ef536f265df97d35031dd4ff4ae23"/>
  <p:tag name="KSO_WM_NEWLAYOUT_GROUP_ID" val="layout_34"/>
  <p:tag name="KSO_WM_NEWLAYOUT_ID" val="slide_4acdb5d565d7a68b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2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03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04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70a3bc8eefd3256a183d46cd83408904087075c"/>
  <p:tag name="KSO_WM_NEWLAYOUT_GROUP_ID" val="layout_6"/>
  <p:tag name="KSO_WM_NEWLAYOUT_ID" val="slide_b83507702f20fc3f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3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14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15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a2d1460fe8b2461ce8e543dab62aedb170b7a7"/>
  <p:tag name="KSO_WM_NEWLAYOUT_GROUP_ID" val="layout_30"/>
  <p:tag name="KSO_WM_NEWLAYOUT_ID" val="slide_12c4e45e347f26ce"/>
</p:tagLst>
</file>

<file path=ppt/tags/tag2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7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28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29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41147833a29c8b8828656a47048e5eca9398fb9"/>
  <p:tag name="KSO_WM_NEWLAYOUT_GROUP_ID" val="layout_2"/>
  <p:tag name="KSO_WM_NEWLAYOUT_ID" val="slide_601b8a6f8f27b735"/>
</p:tagLst>
</file>

<file path=ppt/tags/tag2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3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44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45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0b4c38c4d85ce7eb793401c70b4188eed5ce684"/>
  <p:tag name="KSO_WM_NEWLAYOUT_GROUP_ID" val="layout_10013"/>
  <p:tag name="KSO_WM_NEWLAYOUT_ID" val="slide_c60fea93c381646b"/>
</p:tagLst>
</file>

<file path=ppt/tags/tag2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2.xml><?xml version="1.0" encoding="utf-8"?>
<p:tagLst xmlns:p="http://schemas.openxmlformats.org/presentationml/2006/main">
  <p:tag name="KSO_WM_UNIT_PLACING_PICTURE_USER_VIEWPORT" val="{&quot;height&quot;:8100,&quot;width&quot;:14400}"/>
  <p:tag name="KSO_WM_UNIT_ID" val="_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5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6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7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8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29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0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1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2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3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4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5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6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7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8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19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0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1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2.xml><?xml version="1.0" encoding="utf-8"?>
<p:tagLst xmlns:p="http://schemas.openxmlformats.org/presentationml/2006/main">
  <p:tag name="KSO_WM_UNIT_ID" val="_13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3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4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5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6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7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8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29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0.xml><?xml version="1.0" encoding="utf-8"?>
<p:tagLst xmlns:p="http://schemas.openxmlformats.org/presentationml/2006/main">
  <p:tag name="KSO_WM_UNIT_ID" val="_1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1.xml><?xml version="1.0" encoding="utf-8"?>
<p:tagLst xmlns:p="http://schemas.openxmlformats.org/presentationml/2006/main">
  <p:tag name="KSO_WM_UNIT_ID" val="_1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2.xml><?xml version="1.0" encoding="utf-8"?>
<p:tagLst xmlns:p="http://schemas.openxmlformats.org/presentationml/2006/main">
  <p:tag name="KSO_WM_UNIT_ID" val="_1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3.xml><?xml version="1.0" encoding="utf-8"?>
<p:tagLst xmlns:p="http://schemas.openxmlformats.org/presentationml/2006/main">
  <p:tag name="KSO_WM_UNIT_ID" val="_1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4.xml><?xml version="1.0" encoding="utf-8"?>
<p:tagLst xmlns:p="http://schemas.openxmlformats.org/presentationml/2006/main">
  <p:tag name="KSO_WM_UNIT_ID" val="_1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5.xml><?xml version="1.0" encoding="utf-8"?>
<p:tagLst xmlns:p="http://schemas.openxmlformats.org/presentationml/2006/main">
  <p:tag name="KSO_WM_UNIT_ID" val="_15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6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7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8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39.xml><?xml version="1.0" encoding="utf-8"?>
<p:tagLst xmlns:p="http://schemas.openxmlformats.org/presentationml/2006/main">
  <p:tag name="KSO_WM_UNIT_ID" val="_16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4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0.xml><?xml version="1.0" encoding="utf-8"?>
<p:tagLst xmlns:p="http://schemas.openxmlformats.org/presentationml/2006/main">
  <p:tag name="KSO_WM_AITEMPLATE_STYLE_ID" val="0"/>
</p:tagLst>
</file>

<file path=ppt/tags/tag35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5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6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6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6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6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6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06"/>
  <p:tag name="KSO_WM_TEMPLATE_CATEGORY" val="custom"/>
</p:tagLst>
</file>

<file path=ppt/tags/tag365.xml><?xml version="1.0" encoding="utf-8"?>
<p:tagLst xmlns:p="http://schemas.openxmlformats.org/presentationml/2006/main">
  <p:tag name="KSO_WM_AITEMPLATE_STYLE_ID" val="0"/>
</p:tagLst>
</file>

<file path=ppt/tags/tag366.xml><?xml version="1.0" encoding="utf-8"?>
<p:tagLst xmlns:p="http://schemas.openxmlformats.org/presentationml/2006/main">
  <p:tag name="LayoutZOrder" val="1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67.xml><?xml version="1.0" encoding="utf-8"?>
<p:tagLst xmlns:p="http://schemas.openxmlformats.org/presentationml/2006/main">
  <p:tag name="LayoutZOrder" val="2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68.xml><?xml version="1.0" encoding="utf-8"?>
<p:tagLst xmlns:p="http://schemas.openxmlformats.org/presentationml/2006/main">
  <p:tag name="LayoutZOrder" val="3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  <p:tag name="KSO_WM_TEMPLATE_CATEGORY" val="custom"/>
  <p:tag name="KSO_WM_TEMPLATE_USER_THEME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372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6.xml><?xml version="1.0" encoding="utf-8"?>
<p:tagLst xmlns:p="http://schemas.openxmlformats.org/presentationml/2006/main">
  <p:tag name="KSO_WM_UNIT_TYPE" val="a"/>
  <p:tag name="KSO_WM_UNIT_INDEX" val="1"/>
  <p:tag name="KSO_WM_UNIT_ID" val="_2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7.xml><?xml version="1.0" encoding="utf-8"?>
<p:tagLst xmlns:p="http://schemas.openxmlformats.org/presentationml/2006/main">
  <p:tag name="LayoutZOrder" val="1"/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8.xml><?xml version="1.0" encoding="utf-8"?>
<p:tagLst xmlns:p="http://schemas.openxmlformats.org/presentationml/2006/main">
  <p:tag name="LayoutZOrder" val="2"/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9.xml><?xml version="1.0" encoding="utf-8"?>
<p:tagLst xmlns:p="http://schemas.openxmlformats.org/presentationml/2006/main">
  <p:tag name="LayoutZOrder" val="3"/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84.xml><?xml version="1.0" encoding="utf-8"?>
<p:tagLst xmlns:p="http://schemas.openxmlformats.org/presentationml/2006/main">
  <p:tag name="LayoutZOrder" val="1"/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5.xml><?xml version="1.0" encoding="utf-8"?>
<p:tagLst xmlns:p="http://schemas.openxmlformats.org/presentationml/2006/main">
  <p:tag name="LayoutZOrder" val="2"/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6.xml><?xml version="1.0" encoding="utf-8"?>
<p:tagLst xmlns:p="http://schemas.openxmlformats.org/presentationml/2006/main">
  <p:tag name="LayoutZOrder" val="3"/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CATEGORY" val="custom"/>
  <p:tag name="KSO_WM_TEMPLATE_USER_THEME" val="1"/>
</p:tagLst>
</file>

<file path=ppt/tags/tag39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TEMPLATE_CATEGORY" val="custom"/>
  <p:tag name="KSO_WM_TEMPLATE_USER_THEME" val="1"/>
</p:tagLst>
</file>

<file path=ppt/tags/tag392.xml><?xml version="1.0" encoding="utf-8"?>
<p:tagLst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3.xml><?xml version="1.0" encoding="utf-8"?>
<p:tagLst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7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8.xml><?xml version="1.0" encoding="utf-8"?>
<p:tagLst xmlns:p="http://schemas.openxmlformats.org/presentationml/2006/main">
  <p:tag name="KSO_WM_UNIT_TYPE" val="f"/>
  <p:tag name="KSO_WM_UNIT_INDEX" val="1"/>
  <p:tag name="KSO_WM_UNIT_ID" val="_6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9.xml><?xml version="1.0" encoding="utf-8"?>
<p:tagLst xmlns:p="http://schemas.openxmlformats.org/presentationml/2006/main">
  <p:tag name="KSO_WM_UNIT_TYPE" val="f"/>
  <p:tag name="KSO_WM_UNIT_INDEX" val="2"/>
  <p:tag name="KSO_WM_UNIT_ID" val="_6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0.xml><?xml version="1.0" encoding="utf-8"?>
<p:tagLst xmlns:p="http://schemas.openxmlformats.org/presentationml/2006/main">
  <p:tag name="KSO_WM_UNIT_TYPE" val="f"/>
  <p:tag name="KSO_WM_UNIT_INDEX" val="3"/>
  <p:tag name="KSO_WM_UNIT_ID" val="_6*f*3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1.xml><?xml version="1.0" encoding="utf-8"?>
<p:tagLst xmlns:p="http://schemas.openxmlformats.org/presentationml/2006/main">
  <p:tag name="KSO_WM_UNIT_TYPE" val="f"/>
  <p:tag name="KSO_WM_UNIT_INDEX" val="4"/>
  <p:tag name="KSO_WM_UNIT_ID" val="_6*f*4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5.xml><?xml version="1.0" encoding="utf-8"?>
<p:tagLst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9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3.xml><?xml version="1.0" encoding="utf-8"?>
<p:tagLst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0.xml><?xml version="1.0" encoding="utf-8"?>
<p:tagLst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1.xml><?xml version="1.0" encoding="utf-8"?>
<p:tagLst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2.xml><?xml version="1.0" encoding="utf-8"?>
<p:tagLst xmlns:p="http://schemas.openxmlformats.org/presentationml/2006/main">
  <p:tag name="LayoutZOrder" val="1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3.xml><?xml version="1.0" encoding="utf-8"?>
<p:tagLst xmlns:p="http://schemas.openxmlformats.org/presentationml/2006/main">
  <p:tag name="LayoutZOrder" val="2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4.xml><?xml version="1.0" encoding="utf-8"?>
<p:tagLst xmlns:p="http://schemas.openxmlformats.org/presentationml/2006/main">
  <p:tag name="LayoutZOrder" val="3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427.xml><?xml version="1.0" encoding="utf-8"?>
<p:tagLst xmlns:p="http://schemas.openxmlformats.org/presentationml/2006/main">
  <p:tag name="LayoutZOrder" val="1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8.xml><?xml version="1.0" encoding="utf-8"?>
<p:tagLst xmlns:p="http://schemas.openxmlformats.org/presentationml/2006/main">
  <p:tag name="LayoutZOrder" val="2"/>
  <p:tag name="KSO_WM_UNIT_TYPE" val="i"/>
  <p:tag name="KSO_WM_UNIT_INDEX" val="2"/>
  <p:tag name="KSO_WM_UNIT_ID" val="_0*i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9.xml><?xml version="1.0" encoding="utf-8"?>
<p:tagLst xmlns:p="http://schemas.openxmlformats.org/presentationml/2006/main">
  <p:tag name="LayoutZOrder" val="3"/>
  <p:tag name="KSO_WM_UNIT_TYPE" val="i"/>
  <p:tag name="KSO_WM_UNIT_INDEX" val="3"/>
  <p:tag name="KSO_WM_UNIT_ID" val="_0*i*3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5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单击添加文档标题"/>
  <p:tag name="KSO_WM_UNIT_ID" val="custom_1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6.xml><?xml version="1.0" encoding="utf-8"?>
<p:tagLst xmlns:p="http://schemas.openxmlformats.org/presentationml/2006/main">
  <p:tag name="KSO_WM_UNIT_TYPE" val="f"/>
  <p:tag name="KSO_WM_UNIT_INDEX" val="4"/>
  <p:tag name="KSO_WM_UNIT_SUBTYPE" val="b"/>
  <p:tag name="KSO_WM_UNIT_PRESET_TEXT" val="署名占位符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HIGHLIGHT" val="0"/>
  <p:tag name="KSO_WM_UNIT_COMPATIBLE" val="0"/>
  <p:tag name="KSO_WM_UNIT_DIAGRAM_ISNUMVISUAL" val="0"/>
  <p:tag name="KSO_WM_UNIT_DIAGRAM_ISREFERUNIT" val="0"/>
  <p:tag name="KSO_WM_UNIT_NOCLEAR" val="0"/>
  <p:tag name="KSO_WM_UNIT_VALUE" val="8"/>
</p:tagLst>
</file>

<file path=ppt/tags/tag437.xml><?xml version="1.0" encoding="utf-8"?>
<p:tagLst xmlns:p="http://schemas.openxmlformats.org/presentationml/2006/main">
  <p:tag name="KSO_WM_SLIDE_TYPE" val="title"/>
  <p:tag name="KSO_WM_TEMPLATE_THUMBS_INDEX" val="1、9"/>
  <p:tag name="KSO_WM_BEAUTIFY_FLAG" val="#wm#"/>
  <p:tag name="KSO_WM_TEMPLATE_CATEGORY" val="custom"/>
  <p:tag name="KSO_WM_TEMPLATE_USER_THEME" val="1"/>
  <p:tag name="KSO_WM_SLIDE_INDEX" val="1"/>
  <p:tag name="KSO_WM_SLIDE_ID" val="custom_1"/>
  <p:tag name="KSO_WM_TEMPLATE_SUBCATEGORY" val="29"/>
  <p:tag name="KSO_WM_SLIDE_LAYOUT" val="a_b_f"/>
  <p:tag name="KSO_WM_SLIDE_LAYOUT_CNT" val="1_1_1"/>
</p:tagLst>
</file>

<file path=ppt/tags/tag43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i"/>
  <p:tag name="KSO_WM_UNIT_INDEX" val="1_1"/>
  <p:tag name="KSO_WM_UNIT_CLEAR" val="1"/>
  <p:tag name="KSO_WM_UNIT_LAYERLEVEL" val="1_1"/>
  <p:tag name="KSO_WM_UNIT_ID" val="custom6_9*l_i*1_1"/>
  <p:tag name="KSO_WM_DIAGRAM_GROUP_CODE" val="l1-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3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i"/>
  <p:tag name="KSO_WM_UNIT_INDEX" val="1_3"/>
  <p:tag name="KSO_WM_UNIT_CLEAR" val="1"/>
  <p:tag name="KSO_WM_UNIT_LAYERLEVEL" val="1_1"/>
  <p:tag name="KSO_WM_UNIT_ID" val="custom6_9*l_i*1_3"/>
  <p:tag name="KSO_WM_DIAGRAM_GROUP_CODE" val="l1-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4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i"/>
  <p:tag name="KSO_WM_UNIT_INDEX" val="1_4"/>
  <p:tag name="KSO_WM_UNIT_CLEAR" val="1"/>
  <p:tag name="KSO_WM_UNIT_LAYERLEVEL" val="1_1"/>
  <p:tag name="KSO_WM_UNIT_ID" val="custom6_9*l_i*1_4"/>
  <p:tag name="KSO_WM_DIAGRAM_GROUP_CODE" val="l1-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h_f"/>
  <p:tag name="KSO_WM_UNIT_INDEX" val="1_1_1"/>
  <p:tag name="KSO_WM_UNIT_CLEAR" val="1"/>
  <p:tag name="KSO_WM_UNIT_LAYERLEVEL" val="1_1_1"/>
  <p:tag name="KSO_WM_UNIT_VALUE" val="26"/>
  <p:tag name="KSO_WM_UNIT_HIGHLIGHT" val="0"/>
  <p:tag name="KSO_WM_UNIT_COMPATIBLE" val="0"/>
  <p:tag name="KSO_WM_UNIT_ID" val="custom6_9*l_h_f*1_1_1"/>
  <p:tag name="KSO_WM_UNIT_PRESET_TEXT_INDEX" val="2"/>
  <p:tag name="KSO_WM_UNIT_PRESET_TEXT_LEN" val="10"/>
  <p:tag name="KSO_WM_DIAGRAM_GROUP_CODE" val="l1-1"/>
  <p:tag name="KSO_WM_UNIT_TEXT_FILL_FORE_SCHEMECOLOR_INDEX_BRIGHTNESS" val="0"/>
  <p:tag name="KSO_WM_UNIT_TEXT_FILL_FORE_SCHEMECOLOR_INDEX" val="16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4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h_f"/>
  <p:tag name="KSO_WM_UNIT_INDEX" val="1_3_1"/>
  <p:tag name="KSO_WM_UNIT_CLEAR" val="1"/>
  <p:tag name="KSO_WM_UNIT_LAYERLEVEL" val="1_1_1"/>
  <p:tag name="KSO_WM_UNIT_VALUE" val="24"/>
  <p:tag name="KSO_WM_UNIT_HIGHLIGHT" val="0"/>
  <p:tag name="KSO_WM_UNIT_COMPATIBLE" val="0"/>
  <p:tag name="KSO_WM_UNIT_ID" val="custom6_9*l_h_f*1_3_1"/>
  <p:tag name="KSO_WM_UNIT_PRESET_TEXT_INDEX" val="2"/>
  <p:tag name="KSO_WM_UNIT_PRESET_TEXT_LEN" val="10"/>
  <p:tag name="KSO_WM_DIAGRAM_GROUP_CODE" val="l1-1"/>
  <p:tag name="KSO_WM_UNIT_TEXT_FILL_FORE_SCHEMECOLOR_INDEX_BRIGHTNESS" val="0"/>
  <p:tag name="KSO_WM_UNIT_TEXT_FILL_FORE_SCHEMECOLOR_INDEX" val="16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4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h_f"/>
  <p:tag name="KSO_WM_UNIT_INDEX" val="1_2_1"/>
  <p:tag name="KSO_WM_UNIT_CLEAR" val="1"/>
  <p:tag name="KSO_WM_UNIT_LAYERLEVEL" val="1_1_1"/>
  <p:tag name="KSO_WM_UNIT_VALUE" val="24"/>
  <p:tag name="KSO_WM_UNIT_HIGHLIGHT" val="0"/>
  <p:tag name="KSO_WM_UNIT_COMPATIBLE" val="0"/>
  <p:tag name="KSO_WM_UNIT_ID" val="custom6_9*l_h_f*1_2_1"/>
  <p:tag name="KSO_WM_UNIT_PRESET_TEXT_INDEX" val="2"/>
  <p:tag name="KSO_WM_UNIT_PRESET_TEXT_LEN" val="10"/>
  <p:tag name="KSO_WM_DIAGRAM_GROUP_CODE" val="l1-1"/>
  <p:tag name="KSO_WM_UNIT_TEXT_FILL_FORE_SCHEMECOLOR_INDEX_BRIGHTNESS" val="0"/>
  <p:tag name="KSO_WM_UNIT_TEXT_FILL_FORE_SCHEMECOLOR_INDEX" val="16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h_f"/>
  <p:tag name="KSO_WM_UNIT_INDEX" val="1_4_1"/>
  <p:tag name="KSO_WM_UNIT_CLEAR" val="1"/>
  <p:tag name="KSO_WM_UNIT_LAYERLEVEL" val="1_1_1"/>
  <p:tag name="KSO_WM_UNIT_VALUE" val="24"/>
  <p:tag name="KSO_WM_UNIT_HIGHLIGHT" val="0"/>
  <p:tag name="KSO_WM_UNIT_COMPATIBLE" val="0"/>
  <p:tag name="KSO_WM_UNIT_ID" val="custom6_9*l_h_f*1_4_1"/>
  <p:tag name="KSO_WM_UNIT_PRESET_TEXT_INDEX" val="2"/>
  <p:tag name="KSO_WM_UNIT_PRESET_TEXT_LEN" val="10"/>
  <p:tag name="KSO_WM_DIAGRAM_GROUP_CODE" val="l1-1"/>
  <p:tag name="KSO_WM_UNIT_TEXT_FILL_FORE_SCHEMECOLOR_INDEX_BRIGHTNESS" val="0"/>
  <p:tag name="KSO_WM_UNIT_TEXT_FILL_FORE_SCHEMECOLOR_INDEX" val="16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i"/>
  <p:tag name="KSO_WM_UNIT_INDEX" val="1_9"/>
  <p:tag name="KSO_WM_UNIT_CLEAR" val="1"/>
  <p:tag name="KSO_WM_UNIT_LAYERLEVEL" val="1_1"/>
  <p:tag name="KSO_WM_UNIT_ID" val="custom6_9*l_i*1_9"/>
  <p:tag name="KSO_WM_DIAGRAM_GROUP_CODE" val="l1-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46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UNIT_ISCONTENTSTITLE" val="1"/>
  <p:tag name="KSO_WM_TEMPLATE_INDEX" val="06"/>
  <p:tag name="KSO_WM_TEMPLATE_CATEGORY" val="custom"/>
  <p:tag name="KSO_WM_UNIT_ID" val="custom06_2*i*1"/>
  <p:tag name="KSO_WM_DIAGRAM_GROUP_CODE" val="l1-1"/>
  <p:tag name="KSO_WM_DIAGRAM_COLOR_TRICK" val="1"/>
  <p:tag name="KSO_WM_DIAGRAM_COLOR_TEXT_CAN_REMOVE" val="n"/>
  <p:tag name="KSO_WM_UNIT_LAYERLEVEL" val="1"/>
</p:tagLst>
</file>

<file path=ppt/tags/tag447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UNIT_ISCONTENTSTITLE" val="1"/>
  <p:tag name="KSO_WM_TEMPLATE_INDEX" val="06"/>
  <p:tag name="KSO_WM_TEMPLATE_CATEGORY" val="custom"/>
  <p:tag name="KSO_WM_UNIT_ID" val="custom06_2*i*2"/>
  <p:tag name="KSO_WM_DIAGRAM_GROUP_CODE" val="l1-1"/>
  <p:tag name="KSO_WM_DIAGRAM_COLOR_TRICK" val="1"/>
  <p:tag name="KSO_WM_DIAGRAM_COLOR_TEXT_CAN_REMOVE" val="n"/>
  <p:tag name="KSO_WM_UNIT_LAYERLEVEL" val="1"/>
</p:tagLst>
</file>

<file path=ppt/tags/tag4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TEMPLATE_INDEX" val="06"/>
  <p:tag name="KSO_WM_TEMPLATE_CATEGORY" val="custom"/>
  <p:tag name="KSO_WM_UNIT_ID" val="custom06_2*a*1"/>
  <p:tag name="KSO_WM_DIAGRAM_GROUP_CODE" val="l1-1"/>
  <p:tag name="KSO_WM_DIAGRAM_COLOR_TRICK" val="1"/>
  <p:tag name="KSO_WM_DIAGRAM_COLOR_TEXT_CAN_REMOVE" val="n"/>
  <p:tag name="KSO_WM_UNIT_ISCONTENTSTITLE" val="1"/>
  <p:tag name="KSO_WM_UNIT_LAYERLEVEL" val="1"/>
</p:tagLst>
</file>

<file path=ppt/tags/tag44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"/>
  <p:tag name="KSO_WM_UNIT_TYPE" val="l_h_f"/>
  <p:tag name="KSO_WM_UNIT_INDEX" val="1_4_1"/>
  <p:tag name="KSO_WM_UNIT_CLEAR" val="1"/>
  <p:tag name="KSO_WM_UNIT_LAYERLEVEL" val="1_1_1"/>
  <p:tag name="KSO_WM_UNIT_VALUE" val="24"/>
  <p:tag name="KSO_WM_UNIT_HIGHLIGHT" val="0"/>
  <p:tag name="KSO_WM_UNIT_COMPATIBLE" val="0"/>
  <p:tag name="KSO_WM_UNIT_ID" val="custom6_9*l_h_f*1_4_1"/>
  <p:tag name="KSO_WM_UNIT_PRESET_TEXT_INDEX" val="2"/>
  <p:tag name="KSO_WM_UNIT_PRESET_TEXT_LEN" val="10"/>
  <p:tag name="KSO_WM_DIAGRAM_GROUP_CODE" val="l1-1"/>
  <p:tag name="KSO_WM_UNIT_TEXT_FILL_FORE_SCHEMECOLOR_INDEX_BRIGHTNESS" val="0"/>
  <p:tag name="KSO_WM_UNIT_TEXT_FILL_FORE_SCHEMECOLOR_INDEX" val="16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50.xml><?xml version="1.0" encoding="utf-8"?>
<p:tagLst xmlns:p="http://schemas.openxmlformats.org/presentationml/2006/main">
  <p:tag name="KSO_WM_TAG_VERSION" val="1.0"/>
  <p:tag name="KSO_WM_TEMPLATE_CATEGORY" val="custom"/>
  <p:tag name="KSO_WM_TEMPLATE_INDEX" val="6"/>
  <p:tag name="KSO_WM_UNIT_TYPE" val="l_i"/>
  <p:tag name="KSO_WM_UNIT_INDEX" val="1_1"/>
  <p:tag name="KSO_WM_UNIT_CLEAR" val="1"/>
  <p:tag name="KSO_WM_UNIT_LAYERLEVEL" val="1_1"/>
  <p:tag name="KSO_WM_UNIT_ID" val="custom6_9*l_i*1_1"/>
  <p:tag name="KSO_WM_DIAGRAM_GROUP_CODE" val="l1-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234.6356692913386,&quot;left&quot;:286.21614173228346,&quot;top&quot;:138.96425196850393,&quot;width&quot;:604.0616535433072}"/>
</p:tagLst>
</file>

<file path=ppt/tags/tag451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42,69.375,548,410.625"/>
  <p:tag name="KSO_WM_TEMPLATE_PLACEHOLDER_POS2" val="223.85,69.375,548,410.625"/>
  <p:tag name="KSO_WM_SLIDE_SUBTYPE" val="diag"/>
  <p:tag name="KSO_WM_SLIDE_ITEM_CNT" val="4"/>
  <p:tag name="KSO_WM_TEMPLATE_INDEX" val="06"/>
  <p:tag name="KSO_WM_SLIDE_THEME_ID" val="20241224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06_2"/>
  <p:tag name="KSO_WM_SLIDE_LAYOUT" val="a_i_l"/>
  <p:tag name="KSO_WM_SLIDE_LAYOUT_CNT" val="1_2_1"/>
</p:tagLst>
</file>

<file path=ppt/tags/tag452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53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45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45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311,&quot;left&quot;:31.45,&quot;top&quot;:124.95,&quot;width&quot;:408}"/>
</p:tagLst>
</file>

<file path=ppt/tags/tag45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311,&quot;left&quot;:31.45,&quot;top&quot;:124.95,&quot;width&quot;:408}"/>
</p:tagLst>
</file>

<file path=ppt/tags/tag45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311,&quot;left&quot;:31.45,&quot;top&quot;:124.95,&quot;width&quot;:408}"/>
</p:tagLst>
</file>

<file path=ppt/tags/tag45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311,&quot;left&quot;:31.45,&quot;top&quot;:124.95,&quot;width&quot;:408}"/>
</p:tagLst>
</file>

<file path=ppt/tags/tag45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70b4c38c4d85ce7eb793401c70b4188eed5ce684"/>
  <p:tag name="KSO_WM_NEWLAYOUT_GROUP_ID" val="layout_10013"/>
  <p:tag name="KSO_WM_NEWLAYOUT_ID" val="slide_c60fea93c381646b"/>
  <p:tag name="KSO_WM_UNIT_PRESET_TEXT" val="单击此处添加标题"/>
</p:tagLst>
</file>

<file path=ppt/tags/tag46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c60fea93c381646b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46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348,&quot;left&quot;:48,&quot;top&quot;:120,&quot;width&quot;:864}"/>
</p:tagLst>
</file>

<file path=ppt/tags/tag46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348,&quot;left&quot;:48,&quot;top&quot;:120,&quot;width&quot;:864}"/>
</p:tagLst>
</file>

<file path=ppt/tags/tag46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348,&quot;left&quot;:48,&quot;top&quot;:120,&quot;width&quot;:864}"/>
</p:tagLst>
</file>

<file path=ppt/tags/tag46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c41147833a29c8b8828656a47048e5eca9398fb9"/>
  <p:tag name="KSO_WM_NEWLAYOUT_GROUP_ID" val="layout_2"/>
  <p:tag name="KSO_WM_NEWLAYOUT_ID" val="slide_601b8a6f8f27b735"/>
  <p:tag name="KSO_WM_UNIT_PRESET_TEXT" val="单击此处添加标题"/>
</p:tagLst>
</file>

<file path=ppt/tags/tag46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601b8a6f8f27b735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466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6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6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46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470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471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47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473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47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7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7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77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478.xml><?xml version="1.0" encoding="utf-8"?>
<p:tagLst xmlns:p="http://schemas.openxmlformats.org/presentationml/2006/main">
  <p:tag name="KSO_WM_UNIT_INDEX" val="7"/>
  <p:tag name="KSO_WM_UNIT_TYPE" val="j"/>
  <p:tag name="KSO_WM_BEAUTIFY_FLAG" val="#wm#"/>
</p:tagLst>
</file>

<file path=ppt/tags/tag47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7e940dbb395159a15b2b1958f1966168f3c48060"/>
  <p:tag name="KSO_WM_NEWLAYOUT_GROUP_ID" val="layout_39"/>
  <p:tag name="KSO_WM_NEWLAYOUT_ID" val="slide_e20e62975e2b0dd3"/>
  <p:tag name="KSO_WM_UNIT_PRESET_TEXT" val="单击此处添加标题"/>
</p:tagLst>
</file>

<file path=ppt/tags/tag48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e20e62975e2b0dd3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48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323.8000000000002,&quot;left&quot;:64.9,&quot;top&quot;:120,&quot;width&quot;:847.1}"/>
</p:tagLst>
</file>

<file path=ppt/tags/tag48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323.8000000000002,&quot;left&quot;:64.9,&quot;top&quot;:120,&quot;width&quot;:847.1}"/>
</p:tagLst>
</file>

<file path=ppt/tags/tag48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2/01d36823-0b76-40d1-b465-3ad672a25e8f.jpg?Expires=1803605612\u0026AWSAccessKeyId=AKLT9NSy7kh8TIS1UzNqLRY2\u0026Signature=we7WwuhSDhi5asePv67dofWUMj4%3D&quot;,&quot;product_name&quot;:&quot;wps-wpp-pc&quot;,&quot;intention_code&quot;:&quot;wps_wpp_generate_doc_pay&quot;}*auto_qingqiu_3.0.6_prod*1772069601482_e70eca_b077c0e61c1a-slide-13"/>
  <p:tag name="KSO_WM_DIAGRAM_VIRTUALLY_FRAME" val="{&quot;height&quot;:323.8000000000002,&quot;left&quot;:64.9,&quot;top&quot;:120,&quot;width&quot;:847.1}"/>
</p:tagLst>
</file>

<file path=ppt/tags/tag48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323.8000000000002,&quot;left&quot;:64.9,&quot;top&quot;:120,&quot;width&quot;:847.1}"/>
</p:tagLst>
</file>

<file path=ppt/tags/tag48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323.8000000000002,&quot;left&quot;:64.9,&quot;top&quot;:120,&quot;width&quot;:847.1}"/>
</p:tagLst>
</file>

<file path=ppt/tags/tag48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2/77e0d479-abee-4afe-9508-881c15745f13.jpg?Expires=1803605613\u0026AWSAccessKeyId=AKLT9NSy7kh8TIS1UzNqLRY2\u0026Signature=5UO4lQ4Ru1O2Chw%2BMvcWUhiN8bY%3D&quot;,&quot;product_name&quot;:&quot;wps-wpp-pc&quot;,&quot;intention_code&quot;:&quot;wps_wpp_generate_doc_pay&quot;}*auto_qingqiu_3.0.6_prod*1772069601482_e70eca_b077c0e61c1a-slide-13"/>
  <p:tag name="KSO_WM_DIAGRAM_VIRTUALLY_FRAME" val="{&quot;height&quot;:323.8000000000002,&quot;left&quot;:64.9,&quot;top&quot;:120,&quot;width&quot;:847.1}"/>
</p:tagLst>
</file>

<file path=ppt/tags/tag48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843759fb03b17428aa7b6b82df6a9a88a16a10d7"/>
  <p:tag name="KSO_WM_NEWLAYOUT_GROUP_ID" val="layout_38"/>
  <p:tag name="KSO_WM_NEWLAYOUT_ID" val="slide_982d06a69879109a"/>
  <p:tag name="KSO_WM_UNIT_PRESET_TEXT" val="单击此处添加标题"/>
</p:tagLst>
</file>

<file path=ppt/tags/tag48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982d06a69879109a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48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286,&quot;left&quot;:191.25,&quot;top&quot;:138.55,&quot;width&quot;:696}"/>
</p:tagLst>
</file>

<file path=ppt/tags/tag49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286,&quot;left&quot;:191.25,&quot;top&quot;:138.55,&quot;width&quot;:696}"/>
</p:tagLst>
</file>

<file path=ppt/tags/tag49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9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286,&quot;left&quot;:191.25,&quot;top&quot;:138.55,&quot;width&quot;:696}"/>
</p:tagLst>
</file>

<file path=ppt/tags/tag49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286,&quot;left&quot;:191.25,&quot;top&quot;:138.55,&quot;width&quot;:696}"/>
</p:tagLst>
</file>

<file path=ppt/tags/tag49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9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7e940dbb395159a15b2b1958f1966168f3c48060"/>
  <p:tag name="KSO_WM_NEWLAYOUT_GROUP_ID" val="layout_39"/>
  <p:tag name="KSO_WM_NEWLAYOUT_ID" val="slide_e20e62975e2b0dd3"/>
  <p:tag name="KSO_WM_UNIT_PRESET_TEXT" val="单击此处添加标题"/>
</p:tagLst>
</file>

<file path=ppt/tags/tag49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e20e62975e2b0dd3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49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498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49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7e940dbb395159a15b2b1958f1966168f3c48060"/>
  <p:tag name="KSO_WM_NEWLAYOUT_GROUP_ID" val="layout_39"/>
  <p:tag name="KSO_WM_NEWLAYOUT_ID" val="slide_e20e62975e2b0dd3"/>
  <p:tag name="KSO_WM_UNIT_PRESET_TEXT" val="单击此处添加标题"/>
</p:tagLst>
</file>

<file path=ppt/tags/tag50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e20e62975e2b0dd3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01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02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503.xml><?xml version="1.0" encoding="utf-8"?>
<p:tagLst xmlns:p="http://schemas.openxmlformats.org/presentationml/2006/main">
  <p:tag name="KSO_WM_UNIT_TABLE_BEAUTIFY" val="smartTable{c6ed1e38-f0de-425d-9064-0fd4bb20d2e8}"/>
  <p:tag name="TABLE_ENDDRAG_ORIGIN_RECT" val="777*201"/>
  <p:tag name="TABLE_ENDDRAG_RECT" val="92*209*777*201"/>
</p:tagLst>
</file>

<file path=ppt/tags/tag50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0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06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50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127.4,&quot;left&quot;:48,&quot;top&quot;:99.9,&quot;width&quot;:864}"/>
</p:tagLst>
</file>

<file path=ppt/tags/tag50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DIAGRAM_VIRTUALLY_FRAME" val="{&quot;height&quot;:127.4,&quot;left&quot;:48,&quot;top&quot;:99.9,&quot;width&quot;:864}"/>
</p:tagLst>
</file>

<file path=ppt/tags/tag50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127.4,&quot;left&quot;:48,&quot;top&quot;:99.9,&quot;width&quot;:864}"/>
</p:tagLst>
</file>

<file path=ppt/tags/tag51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127.4,&quot;left&quot;:48,&quot;top&quot;:99.9,&quot;width&quot;:864}"/>
</p:tagLst>
</file>

<file path=ppt/tags/tag51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127.4,&quot;left&quot;:48,&quot;top&quot;:99.9,&quot;width&quot;:864}"/>
</p:tagLst>
</file>

<file path=ppt/tags/tag51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127.4,&quot;left&quot;:48,&quot;top&quot;:99.9,&quot;width&quot;:864}"/>
</p:tagLst>
</file>

<file path=ppt/tags/tag51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90ea6c4387f68f30d9a3009cb99cc21ccf03d02d"/>
  <p:tag name="KSO_WM_NEWLAYOUT_GROUP_ID" val="layout_10007"/>
  <p:tag name="KSO_WM_NEWLAYOUT_ID" val="slide_a6198808599c094b"/>
  <p:tag name="KSO_WM_UNIT_PRESET_TEXT" val="单击此处添加标题"/>
</p:tagLst>
</file>

<file path=ppt/tags/tag51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a6198808599c094b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1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1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1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1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2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2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2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2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2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25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26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527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52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52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530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53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532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3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53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35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536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537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538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53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540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54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542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5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544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545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54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a6335b8e27e1375b56b0872d300a3b4d25154d30"/>
  <p:tag name="KSO_WM_NEWLAYOUT_GROUP_ID" val="layout_26"/>
  <p:tag name="KSO_WM_NEWLAYOUT_ID" val="slide_4e8a2b389c8bbf30"/>
  <p:tag name="KSO_WM_UNIT_PRESET_TEXT" val="单击此处添加标题"/>
</p:tagLst>
</file>

<file path=ppt/tags/tag54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4e8a2b389c8bbf30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4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4e8a2b389c8bbf30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4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550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551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552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53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55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55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556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557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55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559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560.xml><?xml version="1.0" encoding="utf-8"?>
<p:tagLst xmlns:p="http://schemas.openxmlformats.org/presentationml/2006/main">
  <p:tag name="KSO_WM_UNIT_INDEX" val="7"/>
  <p:tag name="KSO_WM_UNIT_TYPE" val="i"/>
  <p:tag name="KSO_WM_UNIT_SUBTYPE" val="j"/>
  <p:tag name="KSO_WM_BEAUTIFY_FLAG" val="#wm#"/>
</p:tagLst>
</file>

<file path=ppt/tags/tag56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6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4e8a2b389c8bbf30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6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56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56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6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6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568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3*l_h_x*1_1_1"/>
  <p:tag name="KSO_WM_TEMPLATE_INDEX" val="19882022"/>
  <p:tag name="KSO_WM_TAG_VERSION" val="2.0"/>
  <p:tag name="KSO_WM_DIAGRAM_GROUP_CODE" val="l1-1"/>
  <p:tag name="KSO_WM_DIAGRAM_VIRTUALLY_FRAME" val="{&quot;height&quot;:191.9,&quot;left&quot;:410,&quot;top&quot;:278,&quot;width&quot;:502}"/>
</p:tagLst>
</file>

<file path=ppt/tags/tag569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  <p:tag name="KSO_WM_DIAGRAM_VIRTUALLY_FRAME" val="{&quot;height&quot;:191.9,&quot;left&quot;:410,&quot;top&quot;:278,&quot;width&quot;:502}"/>
</p:tagLst>
</file>

<file path=ppt/tags/tag570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3*l_h_x*1_2_1"/>
  <p:tag name="KSO_WM_TEMPLATE_INDEX" val="19882022"/>
  <p:tag name="KSO_WM_TAG_VERSION" val="2.0"/>
  <p:tag name="KSO_WM_DIAGRAM_GROUP_CODE" val="l1-1"/>
  <p:tag name="KSO_WM_DIAGRAM_VIRTUALLY_FRAME" val="{&quot;height&quot;:191.9,&quot;left&quot;:410,&quot;top&quot;:278,&quot;width&quot;:502}"/>
</p:tagLst>
</file>

<file path=ppt/tags/tag571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  <p:tag name="KSO_WM_DIAGRAM_VIRTUALLY_FRAME" val="{&quot;height&quot;:191.9,&quot;left&quot;:410,&quot;top&quot;:278,&quot;width&quot;:502}"/>
</p:tagLst>
</file>

<file path=ppt/tags/tag572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3*l_h_x*1_3_1"/>
  <p:tag name="KSO_WM_TEMPLATE_INDEX" val="19882022"/>
  <p:tag name="KSO_WM_TAG_VERSION" val="2.0"/>
  <p:tag name="KSO_WM_DIAGRAM_GROUP_CODE" val="l1-1"/>
  <p:tag name="KSO_WM_DIAGRAM_VIRTUALLY_FRAME" val="{&quot;height&quot;:191.9,&quot;left&quot;:410,&quot;top&quot;:278,&quot;width&quot;:502}"/>
</p:tagLst>
</file>

<file path=ppt/tags/tag573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  <p:tag name="KSO_WM_DIAGRAM_VIRTUALLY_FRAME" val="{&quot;height&quot;:191.9,&quot;left&quot;:410,&quot;top&quot;:278,&quot;width&quot;:502}"/>
</p:tagLst>
</file>

<file path=ppt/tags/tag57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4e8a2b389c8bbf30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7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576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57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7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57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8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58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58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58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58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4e8a2b389c8bbf30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585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58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87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588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58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59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59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592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59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59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59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596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TEMPLATE_PLACEHOLDER_POS" val="0,45,768,210"/>
  <p:tag name="KSO_WM_SLIDE_SUBTYPE" val="pureTxt"/>
  <p:tag name="KSO_WM_SLIDE_ITEM_CNT" val="0"/>
  <p:tag name="KSO_WM_TEMPLATE_INDEX" val="06"/>
  <p:tag name="KSO_WM_SLIDE_THEME_ID" val="20232938"/>
  <p:tag name="KSO_WM_SLIDE_INDEX" val="8"/>
  <p:tag name="KSO_WM_BEAUTIFY_FLAG" val="#wm#"/>
  <p:tag name="KSO_WM_TEMPLATE_CATEGORY" val="custom"/>
  <p:tag name="KSO_WM_SLIDE_ID" val="custom_8"/>
  <p:tag name="KSO_WM_SLIDE_LAYOUT" val="a_f"/>
  <p:tag name="KSO_WM_SLIDE_LAYOUT_CNT" val="1_1"/>
  <p:tag name="KSO_WM_TEMPLATE_USER_THEME" val="1"/>
</p:tagLst>
</file>

<file path=ppt/tags/tag597.xml><?xml version="1.0" encoding="utf-8"?>
<p:tagLst xmlns:p="http://schemas.openxmlformats.org/presentationml/2006/main">
  <p:tag name="KSO_WM_UNIT_INDEX" val="2"/>
  <p:tag name="KSO_WM_UNIT_TYPE" val="a"/>
  <p:tag name="KSO_WM_BEAUTIFY_FLAG" val="#wm#"/>
</p:tagLst>
</file>

<file path=ppt/tags/tag598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99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600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601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60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60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604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60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606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60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608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609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TEMPLATE_PLACEHOLDER_POS" val="0,45,768,210"/>
  <p:tag name="KSO_WM_SLIDE_SUBTYPE" val="pureTxt"/>
  <p:tag name="KSO_WM_SLIDE_ITEM_CNT" val="0"/>
  <p:tag name="KSO_WM_TEMPLATE_INDEX" val="06"/>
  <p:tag name="KSO_WM_SLIDE_THEME_ID" val="20232938"/>
  <p:tag name="KSO_WM_SLIDE_INDEX" val="8"/>
  <p:tag name="KSO_WM_BEAUTIFY_FLAG" val="#wm#"/>
  <p:tag name="KSO_WM_TEMPLATE_CATEGORY" val="custom"/>
  <p:tag name="KSO_WM_SLIDE_ID" val="custom_8"/>
  <p:tag name="KSO_WM_SLIDE_LAYOUT" val="a_f"/>
  <p:tag name="KSO_WM_SLIDE_LAYOUT_CNT" val="1_1"/>
  <p:tag name="KSO_WM_TEMPLATE_USER_THEME" val="1"/>
</p:tagLst>
</file>

<file path=ppt/tags/tag61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1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1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b83507702f20fc3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13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14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61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149.8,&quot;left&quot;:60,&quot;top&quot;:311.45,&quot;width&quot;:852}"/>
</p:tagLst>
</file>

<file path=ppt/tags/tag61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DIAGRAM_VIRTUALLY_FRAME" val="{&quot;height&quot;:149.8,&quot;left&quot;:60,&quot;top&quot;:311.45,&quot;width&quot;:852}"/>
</p:tagLst>
</file>

<file path=ppt/tags/tag61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149.8,&quot;left&quot;:60,&quot;top&quot;:311.45,&quot;width&quot;:852}"/>
</p:tagLst>
</file>

<file path=ppt/tags/tag61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149.8,&quot;left&quot;:60,&quot;top&quot;:311.45,&quot;width&quot;:852}"/>
</p:tagLst>
</file>

<file path=ppt/tags/tag61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149.8,&quot;left&quot;:60,&quot;top&quot;:311.45,&quot;width&quot;:852}"/>
</p:tagLst>
</file>

<file path=ppt/tags/tag62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149.8,&quot;left&quot;:60,&quot;top&quot;:311.45,&quot;width&quot;:852}"/>
</p:tagLst>
</file>

<file path=ppt/tags/tag6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fd9cc6ec9504ab1afa266d0c2cb2eb3e_0.png?Expires=1772156008\u0026AWSAccessKeyId=AKLTHzmNYxS86KQFnb2pvxtA\u0026Signature=ZBd9ycp1UfkTKeoJKiEGtzSpeL0%3D&quot;,&quot;product_name&quot;:&quot;wps-wpp-pc&quot;,&quot;intention_code&quot;:&quot;wps_wpp_generate_doc_pay&quot;}*auto_cache_hit_3.0.6_prod*1772069601482_e70eca_b077c0e61c1a-slide-17"/>
</p:tagLst>
</file>

<file path=ppt/tags/tag62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089c97db770b2f8ece170a2e6ce26eb654104f1d"/>
  <p:tag name="KSO_WM_NEWLAYOUT_GROUP_ID" val="layout_42"/>
  <p:tag name="KSO_WM_NEWLAYOUT_ID" val="slide_dd2f059f6dfe3f3e"/>
  <p:tag name="KSO_WM_UNIT_PRESET_TEXT" val="单击此处添加标题"/>
</p:tagLst>
</file>

<file path=ppt/tags/tag62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dd2f059f6dfe3f3e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24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256,&quot;left&quot;:48,&quot;top&quot;:190,&quot;width&quot;:864}"/>
</p:tagLst>
</file>

<file path=ppt/tags/tag62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DIAGRAM_VIRTUALLY_FRAME" val="{&quot;height&quot;:256,&quot;left&quot;:48,&quot;top&quot;:190,&quot;width&quot;:864}"/>
</p:tagLst>
</file>

<file path=ppt/tags/tag62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  <p:tag name="KSO_WM_DIAGRAM_VIRTUALLY_FRAME" val="{&quot;height&quot;:256,&quot;left&quot;:48,&quot;top&quot;:190,&quot;width&quot;:864}"/>
</p:tagLst>
</file>

<file path=ppt/tags/tag62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256,&quot;left&quot;:48,&quot;top&quot;:190,&quot;width&quot;:864}"/>
</p:tagLst>
</file>

<file path=ppt/tags/tag62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256,&quot;left&quot;:48,&quot;top&quot;:190,&quot;width&quot;:864}"/>
</p:tagLst>
</file>

<file path=ppt/tags/tag62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  <p:tag name="KSO_WM_DIAGRAM_VIRTUALLY_FRAME" val="{&quot;height&quot;:256,&quot;left&quot;:48,&quot;top&quot;:190,&quot;width&quot;:864}"/>
</p:tagLst>
</file>

<file path=ppt/tags/tag63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256,&quot;left&quot;:48,&quot;top&quot;:190,&quot;width&quot;:864}"/>
</p:tagLst>
</file>

<file path=ppt/tags/tag63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256,&quot;left&quot;:48,&quot;top&quot;:190,&quot;width&quot;:864}"/>
</p:tagLst>
</file>

<file path=ppt/tags/tag63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  <p:tag name="KSO_WM_DIAGRAM_VIRTUALLY_FRAME" val="{&quot;height&quot;:256,&quot;left&quot;:48,&quot;top&quot;:190,&quot;width&quot;:864}"/>
</p:tagLst>
</file>

<file path=ppt/tags/tag63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ebed8ba664f6e8e1adcbfe8e7577241d5156b7ab"/>
  <p:tag name="KSO_WM_NEWLAYOUT_GROUP_ID" val="layout_27"/>
  <p:tag name="KSO_WM_NEWLAYOUT_ID" val="slide_e8da08e968e1bc20"/>
  <p:tag name="KSO_WM_UNIT_PRESET_TEXT" val="单击此处添加标题"/>
</p:tagLst>
</file>

<file path=ppt/tags/tag63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e8da08e968e1bc20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3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324,&quot;left&quot;:72,&quot;top&quot;:144,&quot;width&quot;:816}"/>
</p:tagLst>
</file>

<file path=ppt/tags/tag63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PRESET_TEXT" val="项标题"/>
  <p:tag name="KSO_WM_DIAGRAM_VIRTUALLY_FRAME" val="{&quot;height&quot;:324,&quot;left&quot;:72,&quot;top&quot;:144,&quot;width&quot;:816}"/>
</p:tagLst>
</file>

<file path=ppt/tags/tag63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s://sjzg-images.ks3-cn-beijing-internal.ksyun.com/tim_gen_images/doubao_gen/4fe767313e355b7c7f145124cb4070b9_0.png?Expires=1772156009\u0026AWSAccessKeyId=AKLTHzmNYxS86KQFnb2pvxtA\u0026Signature=zj4NJMxgTq0IxiyISW%2FbPyEmptQ%3D&quot;,&quot;product_name&quot;:&quot;wps-wpp-pc&quot;,&quot;intention_code&quot;:&quot;wps_wpp_generate_doc_pay&quot;}*auto_cache_hit_3.0.6_prod*1772069601482_e70eca_b077c0e61c1a-slide-19"/>
  <p:tag name="KSO_WM_DIAGRAM_VIRTUALLY_FRAME" val="{&quot;height&quot;:324,&quot;left&quot;:72,&quot;top&quot;:144,&quot;width&quot;:816}"/>
</p:tagLst>
</file>

<file path=ppt/tags/tag63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324,&quot;left&quot;:72,&quot;top&quot;:144,&quot;width&quot;:816}"/>
</p:tagLst>
</file>

<file path=ppt/tags/tag63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项标题"/>
  <p:tag name="KSO_WM_DIAGRAM_VIRTUALLY_FRAME" val="{&quot;height&quot;:324,&quot;left&quot;:72,&quot;top&quot;:144,&quot;width&quot;:816}"/>
</p:tagLst>
</file>

<file path=ppt/tags/tag64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s://sjzg-images.ks3-cn-beijing-internal.ksyun.com/tim_gen_images/doubao_gen/0f8237ec0d4d3cf83dcf9e2ada94527a_0.png?Expires=1772156009\u0026AWSAccessKeyId=AKLTHzmNYxS86KQFnb2pvxtA\u0026Signature=CuQOk6lYMlCX2Yiiq%2BvSP7lcbWM%3D&quot;,&quot;product_name&quot;:&quot;wps-wpp-pc&quot;,&quot;intention_code&quot;:&quot;wps_wpp_generate_doc_pay&quot;}*auto_cache_hit_3.0.6_prod*1772069601482_e70eca_b077c0e61c1a-slide-19"/>
  <p:tag name="KSO_WM_DIAGRAM_VIRTUALLY_FRAME" val="{&quot;height&quot;:324,&quot;left&quot;:72,&quot;top&quot;:144,&quot;width&quot;:816}"/>
</p:tagLst>
</file>

<file path=ppt/tags/tag64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324,&quot;left&quot;:72,&quot;top&quot;:144,&quot;width&quot;:816}"/>
</p:tagLst>
</file>

<file path=ppt/tags/tag64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项标题"/>
  <p:tag name="KSO_WM_DIAGRAM_VIRTUALLY_FRAME" val="{&quot;height&quot;:324,&quot;left&quot;:72,&quot;top&quot;:144,&quot;width&quot;:816}"/>
</p:tagLst>
</file>

<file path=ppt/tags/tag64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6eaa6d48c974c073cb4c5f1154c06834_0.png?Expires=1772156009\u0026AWSAccessKeyId=AKLTHzmNYxS86KQFnb2pvxtA\u0026Signature=gSuYgFr4o3HSypknIJo5Dew9Qvk%3D&quot;,&quot;product_name&quot;:&quot;wps-wpp-pc&quot;,&quot;intention_code&quot;:&quot;wps_wpp_generate_doc_pay&quot;}*auto_cache_hit_3.0.6_prod*1772069601482_e70eca_b077c0e61c1a-slide-19"/>
  <p:tag name="KSO_WM_DIAGRAM_VIRTUALLY_FRAME" val="{&quot;height&quot;:324,&quot;left&quot;:72,&quot;top&quot;:144,&quot;width&quot;:816}"/>
</p:tagLst>
</file>

<file path=ppt/tags/tag64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00ab43332086f84475d86125f4537058d8cf1c17"/>
  <p:tag name="KSO_WM_NEWLAYOUT_GROUP_ID" val="layout_48"/>
  <p:tag name="KSO_WM_NEWLAYOUT_ID" val="slide_81d8e711c58b27d4"/>
  <p:tag name="KSO_WM_UNIT_PRESET_TEXT" val="单击此处添加标题"/>
</p:tagLst>
</file>

<file path=ppt/tags/tag64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81d8e711c58b27d4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4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207.1,&quot;left&quot;:48,&quot;top&quot;:120,&quot;width&quot;:864}"/>
</p:tagLst>
</file>

<file path=ppt/tags/tag64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DIAGRAM_VIRTUALLY_FRAME" val="{&quot;height&quot;:207.1,&quot;left&quot;:48,&quot;top&quot;:120,&quot;width&quot;:864}"/>
</p:tagLst>
</file>

<file path=ppt/tags/tag64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207.1,&quot;left&quot;:48,&quot;top&quot;:120,&quot;width&quot;:864}"/>
</p:tagLst>
</file>

<file path=ppt/tags/tag64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207.1,&quot;left&quot;:48,&quot;top&quot;:120,&quot;width&quot;:864}"/>
</p:tagLst>
</file>

<file path=ppt/tags/tag65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207.1,&quot;left&quot;:48,&quot;top&quot;:120,&quot;width&quot;:864}"/>
</p:tagLst>
</file>

<file path=ppt/tags/tag65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207.1,&quot;left&quot;:48,&quot;top&quot;:120,&quot;width&quot;:864}"/>
</p:tagLst>
</file>

<file path=ppt/tags/tag65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b3c5493088091cd9ff21f37f6b4c3058d8224f71"/>
  <p:tag name="KSO_WM_NEWLAYOUT_GROUP_ID" val="layout_10003"/>
  <p:tag name="KSO_WM_NEWLAYOUT_ID" val="slide_f03f66a8173a28af"/>
  <p:tag name="KSO_WM_UNIT_PRESET_TEXT" val="单击此处添加标题"/>
</p:tagLst>
</file>

<file path=ppt/tags/tag65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f03f66a8173a28af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54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55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65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112,&quot;left&quot;:60,&quot;top&quot;:120,&quot;width&quot;:852}"/>
</p:tagLst>
</file>

<file path=ppt/tags/tag65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DIAGRAM_VIRTUALLY_FRAME" val="{&quot;height&quot;:112,&quot;left&quot;:60,&quot;top&quot;:120,&quot;width&quot;:852}"/>
</p:tagLst>
</file>

<file path=ppt/tags/tag6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65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112,&quot;left&quot;:60,&quot;top&quot;:120,&quot;width&quot;:852}"/>
</p:tagLst>
</file>

<file path=ppt/tags/tag66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DIAGRAM_VIRTUALLY_FRAME" val="{&quot;height&quot;:112,&quot;left&quot;:60,&quot;top&quot;:120,&quot;width&quot;:852}"/>
</p:tagLst>
</file>

<file path=ppt/tags/tag6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662.xml><?xml version="1.0" encoding="utf-8"?>
<p:tagLst xmlns:p="http://schemas.openxmlformats.org/presentationml/2006/main">
  <p:tag name="KSO_WM_BEAUTIFY_FLAG" val="#wm#"/>
  <p:tag name="KSO_WM_FIGMA_FLAG" val="#fgm#"/>
  <p:tag name="KSO_WM_UNIT_INDEX" val="2"/>
  <p:tag name="KSO_WM_UNIT_TYPE" val="d"/>
  <p:tag name="MH_PIC_SOURCE_TYPE" val="generate_slide_ai*{&quot;id&quot;:&quot;https://sjzg-images.ks3-cn-beijing-internal.ksyun.com/tim_gen_images/doubao_gen/017c0ae6eedf149d0997d54da13d1bf4_0.png?Expires=1772156011\u0026AWSAccessKeyId=AKLTHzmNYxS86KQFnb2pvxtA\u0026Signature=38y6RjtNH%2FfC%2FNEwkjW6Ak9uMAw%3D&quot;,&quot;product_name&quot;:&quot;wps-wpp-pc&quot;,&quot;intention_code&quot;:&quot;wps_wpp_generate_doc_pay&quot;}*auto_cache_hit_3.0.6_prod*1772069601482_e70eca_b077c0e61c1a-slide-23"/>
</p:tagLst>
</file>

<file path=ppt/tags/tag66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990f67c371bd8592fb22d0ce8ad498800fcb1723"/>
  <p:tag name="KSO_WM_NEWLAYOUT_GROUP_ID" val="layout_59"/>
  <p:tag name="KSO_WM_NEWLAYOUT_ID" val="slide_a03752dd04035ed8"/>
  <p:tag name="KSO_WM_UNIT_PRESET_TEXT" val="单击此处添加标题"/>
</p:tagLst>
</file>

<file path=ppt/tags/tag66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a03752dd04035ed8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65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f"/>
  <p:tag name="KSO_WM_UNIT_PRESET_TEXT" val="单击此处添加项正文"/>
  <p:tag name="KSO_WM_DIAGRAM_VIRTUALLY_FRAME" val="{&quot;height&quot;:356,&quot;left&quot;:48,&quot;top&quot;:120,&quot;width&quot;:864}"/>
</p:tagLst>
</file>

<file path=ppt/tags/tag666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a"/>
  <p:tag name="KSO_WM_UNIT_PRESET_TEXT" val="项标题"/>
  <p:tag name="KSO_WM_DIAGRAM_VIRTUALLY_FRAME" val="{&quot;height&quot;:356,&quot;left&quot;:48,&quot;top&quot;:120,&quot;width&quot;:864}"/>
</p:tagLst>
</file>

<file path=ppt/tags/tag667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350632637&quot;,&quot;product_name&quot;:&quot;wps-wpp-pc&quot;,&quot;intention_code&quot;:&quot;wps_wpp_generate_doc_pay&quot;}*auto_gallery_3.0.6_prod*1772069601482_e70eca_b077c0e61c1a-slide-24"/>
  <p:tag name="KSO_WM_DIAGRAM_VIRTUALLY_FRAME" val="{&quot;height&quot;:356,&quot;left&quot;:48,&quot;top&quot;:120,&quot;width&quot;:864}"/>
</p:tagLst>
</file>

<file path=ppt/tags/tag668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f"/>
  <p:tag name="KSO_WM_UNIT_PRESET_TEXT" val="单击此处添加项正文"/>
  <p:tag name="KSO_WM_DIAGRAM_VIRTUALLY_FRAME" val="{&quot;height&quot;:356,&quot;left&quot;:48,&quot;top&quot;:120,&quot;width&quot;:864}"/>
</p:tagLst>
</file>

<file path=ppt/tags/tag669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a"/>
  <p:tag name="KSO_WM_UNIT_PRESET_TEXT" val="项标题"/>
  <p:tag name="KSO_WM_DIAGRAM_VIRTUALLY_FRAME" val="{&quot;height&quot;:356,&quot;left&quot;:48,&quot;top&quot;:120,&quot;width&quot;:864}"/>
</p:tagLst>
</file>

<file path=ppt/tags/tag670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2/b34e73cb-9ff3-4706-8f62-6440d97d1c0a.jpg?Expires=1803605616\u0026AWSAccessKeyId=AKLT9NSy7kh8TIS1UzNqLRY2\u0026Signature=vjziRpEz39ns0j7ImKIXtqSQ%2BO4%3D&quot;,&quot;product_name&quot;:&quot;wps-wpp-pc&quot;,&quot;intention_code&quot;:&quot;wps_wpp_generate_doc_pay&quot;}*auto_qingqiu_3.0.6_prod*1772069601482_e70eca_b077c0e61c1a-slide-24"/>
  <p:tag name="KSO_WM_DIAGRAM_VIRTUALLY_FRAME" val="{&quot;height&quot;:356,&quot;left&quot;:48,&quot;top&quot;:120,&quot;width&quot;:864}"/>
</p:tagLst>
</file>

<file path=ppt/tags/tag671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f"/>
  <p:tag name="KSO_WM_UNIT_PRESET_TEXT" val="单击此处添加项正文"/>
  <p:tag name="KSO_WM_DIAGRAM_VIRTUALLY_FRAME" val="{&quot;height&quot;:356,&quot;left&quot;:48,&quot;top&quot;:120,&quot;width&quot;:864}"/>
</p:tagLst>
</file>

<file path=ppt/tags/tag672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a"/>
  <p:tag name="KSO_WM_UNIT_PRESET_TEXT" val="项标题"/>
  <p:tag name="KSO_WM_DIAGRAM_VIRTUALLY_FRAME" val="{&quot;height&quot;:356,&quot;left&quot;:48,&quot;top&quot;:120,&quot;width&quot;:864}"/>
</p:tagLst>
</file>

<file path=ppt/tags/tag673.xml><?xml version="1.0" encoding="utf-8"?>
<p:tagLst xmlns:p="http://schemas.openxmlformats.org/presentationml/2006/main">
  <p:tag name="KSO_WM_BEAUTIFY_FLAG" val="#w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709136009&quot;,&quot;product_name&quot;:&quot;wps-wpp-pc&quot;,&quot;intention_code&quot;:&quot;wps_wpp_generate_doc_pay&quot;}*auto_gallery_3.0.6_prod*1772069601482_e70eca_b077c0e61c1a-slide-24"/>
  <p:tag name="KSO_WM_DIAGRAM_VIRTUALLY_FRAME" val="{&quot;height&quot;:356,&quot;left&quot;:48,&quot;top&quot;:120,&quot;width&quot;:864}"/>
</p:tagLst>
</file>

<file path=ppt/tags/tag67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a"/>
  <p:tag name="KSO_WM_LAYOUT_CHECK_HASH" val="e00d5adce6c973d4afa9e2c591bd44b2aa959f7d"/>
  <p:tag name="KSO_WM_NEWLAYOUT_GROUP_ID" val="layout_53"/>
  <p:tag name="KSO_WM_NEWLAYOUT_ID" val="slide_76713c4037f02356"/>
  <p:tag name="KSO_WM_UNIT_PRESET_TEXT" val="单击此处添加标题"/>
</p:tagLst>
</file>

<file path=ppt/tags/tag67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0"/>
  <p:tag name="KSO_WM_TEMPLATE_SLIDE_ID" val="slide_76713c4037f02356"/>
  <p:tag name="KSO_WM_TEMPLATE_CATEGORY" val="custom"/>
  <p:tag name="KSO_WM_TEMPLATE_USER_THEME" val="1"/>
  <p:tag name="KSO_WM_SLIDE_INDEX" val="8"/>
  <p:tag name="KSO_WM_SLIDE_ID" val="custom_8"/>
  <p:tag name="KSO_WM_SLIDE_LAYOUT" val="a_f"/>
  <p:tag name="KSO_WM_SLIDE_LAYOUT_CNT" val="1_1"/>
</p:tagLst>
</file>

<file path=ppt/tags/tag676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感谢观看"/>
  <p:tag name="KSO_WM_UNIT_ID" val="custom_9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77.xml><?xml version="1.0" encoding="utf-8"?>
<p:tagLst xmlns:p="http://schemas.openxmlformats.org/presentationml/2006/main">
  <p:tag name="KSO_WM_SLIDE_TYPE" val="endPage"/>
  <p:tag name="KSO_WM_BEAUTIFY_FLAG" val="#wm#"/>
  <p:tag name="KSO_WM_TEMPLATE_CATEGORY" val="custom"/>
  <p:tag name="KSO_WM_TEMPLATE_USER_THEME" val="1"/>
  <p:tag name="KSO_WM_SLIDE_INDEX" val="9"/>
  <p:tag name="KSO_WM_SLIDE_ID" val="custom_9"/>
  <p:tag name="KSO_WM_TEMPLATE_SUBCATEGORY" val="29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01.长宁区“治未病”试点工作总结">
  <a:themeElements>
    <a:clrScheme name="01.长宁区“治未病”试点工作总结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.长宁区“治未病”试点工作总结">
      <a:majorFont>
        <a:latin typeface="楷体"/>
        <a:ea typeface="楷体"/>
        <a:cs typeface=""/>
      </a:majorFont>
      <a:minorFont>
        <a:latin typeface="Arial"/>
        <a:ea typeface="方正黑体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01.长宁区“治未病”试点工作总结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01.长宁区“治未病”试点工作总结">
  <a:themeElements>
    <a:clrScheme name="01.长宁区“治未病”试点工作总结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.长宁区“治未病”试点工作总结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01.长宁区“治未病”试点工作总结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.长宁区“治未病”试点工作总结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.长宁区“治未病”试点工作总结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0C223A"/>
      </a:dk2>
      <a:lt2>
        <a:srgbClr val="F4F8FD"/>
      </a:lt2>
      <a:accent1>
        <a:srgbClr val="9FC3EB"/>
      </a:accent1>
      <a:accent2>
        <a:srgbClr val="DAE7F6"/>
      </a:accent2>
      <a:accent3>
        <a:srgbClr val="B9D4F1"/>
      </a:accent3>
      <a:accent4>
        <a:srgbClr val="74828B"/>
      </a:accent4>
      <a:accent5>
        <a:srgbClr val="A1AAB3"/>
      </a:accent5>
      <a:accent6>
        <a:srgbClr val="78A4CF"/>
      </a:accent6>
      <a:hlink>
        <a:srgbClr val="0026E5"/>
      </a:hlink>
      <a:folHlink>
        <a:srgbClr val="7E1FAD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9583</Words>
  <Application>WPS 演示</Application>
  <PresentationFormat>宽屏</PresentationFormat>
  <Paragraphs>2218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49</vt:i4>
      </vt:variant>
    </vt:vector>
  </HeadingPairs>
  <TitlesOfParts>
    <vt:vector size="66" baseType="lpstr">
      <vt:lpstr>Arial</vt:lpstr>
      <vt:lpstr>宋体</vt:lpstr>
      <vt:lpstr>Wingdings</vt:lpstr>
      <vt:lpstr>楷体</vt:lpstr>
      <vt:lpstr>方正黑体_GBK</vt:lpstr>
      <vt:lpstr>思源黑体 Regular</vt:lpstr>
      <vt:lpstr>黑体</vt:lpstr>
      <vt:lpstr>Noto Sans SC</vt:lpstr>
      <vt:lpstr>微软雅黑</vt:lpstr>
      <vt:lpstr>Arial Unicode MS</vt:lpstr>
      <vt:lpstr>Calibri</vt:lpstr>
      <vt:lpstr>仿宋</vt:lpstr>
      <vt:lpstr>Wingdings</vt:lpstr>
      <vt:lpstr>Office 主题</vt:lpstr>
      <vt:lpstr>01.长宁区“治未病”试点工作总结</vt:lpstr>
      <vt:lpstr>1_01.长宁区“治未病”试点工作总结</vt:lpstr>
      <vt:lpstr>2_Office 主题</vt:lpstr>
      <vt:lpstr>提高脑卒中偏瘫患者良肢位摆放的正确率</vt:lpstr>
      <vt:lpstr>PowerPoint 演示文稿</vt:lpstr>
      <vt:lpstr>01 选题背景与意义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02 计划阶段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03 实施阶段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04 品管圈护理措施及创新点</vt:lpstr>
      <vt:lpstr>PowerPoint 演示文稿</vt:lpstr>
      <vt:lpstr>PowerPoint 演示文稿</vt:lpstr>
      <vt:lpstr>PowerPoint 演示文稿</vt:lpstr>
      <vt:lpstr>PowerPoint 演示文稿</vt:lpstr>
      <vt:lpstr>05 效果确认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单击此处添加文本</dc:title>
  <dc:creator/>
  <cp:lastModifiedBy>hedongwei</cp:lastModifiedBy>
  <cp:revision>101</cp:revision>
  <dcterms:created xsi:type="dcterms:W3CDTF">2026-02-26T01:51:00Z</dcterms:created>
  <dcterms:modified xsi:type="dcterms:W3CDTF">2026-10-17T13:33:24Z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C2AD3026FA88AE7327A39F690F78673C_42</vt:lpwstr>
  </property>
</Properties>
</file>